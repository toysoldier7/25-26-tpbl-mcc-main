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27f6e86c7347db" /><Relationship Type="http://schemas.openxmlformats.org/officeDocument/2006/relationships/extended-properties" Target="/docProps/app.xml" Id="R06cee8c2d6d64659" /><Relationship Type="http://schemas.openxmlformats.org/officeDocument/2006/relationships/officeDocument" Target="/ppt/presentation.xml" Id="Re00dcb71f564468e" /></Relationships>
</file>

<file path=ppt/presentation.xml><?xml version="1.0" encoding="utf-8"?>
<p:presentation xmlns:p="http://schemas.openxmlformats.org/presentationml/2006/main">
  <p:sldMasterIdLst>
    <p:sldMasterId xmlns:r="http://schemas.openxmlformats.org/officeDocument/2006/relationships" id="2147483648" r:id="R9b4ca78e567b4e2c"/>
  </p:sldMasterIdLst>
  <p:notesMasterIdLst>
    <p:notesMasterId xmlns:r="http://schemas.openxmlformats.org/officeDocument/2006/relationships" r:id="R4c2050158880468d"/>
  </p:notesMasterIdLst>
  <p:sldIdLst>
    <p:sldId xmlns:r="http://schemas.openxmlformats.org/officeDocument/2006/relationships" id="256" r:id="R3076405410824596"/>
    <p:sldId xmlns:r="http://schemas.openxmlformats.org/officeDocument/2006/relationships" id="257" r:id="Rc9262770d5fd494f"/>
    <p:sldId xmlns:r="http://schemas.openxmlformats.org/officeDocument/2006/relationships" id="258" r:id="R8c21425974774744"/>
    <p:sldId xmlns:r="http://schemas.openxmlformats.org/officeDocument/2006/relationships" id="259" r:id="Rf68b4368949345c7"/>
    <p:sldId xmlns:r="http://schemas.openxmlformats.org/officeDocument/2006/relationships" id="260" r:id="Rf9ec1c91db12484f"/>
    <p:sldId xmlns:r="http://schemas.openxmlformats.org/officeDocument/2006/relationships" id="261" r:id="Rf19d23bf40924f7b"/>
    <p:sldId xmlns:r="http://schemas.openxmlformats.org/officeDocument/2006/relationships" id="262" r:id="R8d9ba16ce02a4349"/>
    <p:sldId xmlns:r="http://schemas.openxmlformats.org/officeDocument/2006/relationships" id="263" r:id="R3872e7c122a446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bd8c5b431249fb" /><Relationship Type="http://schemas.openxmlformats.org/officeDocument/2006/relationships/slideMaster" Target="/ppt/slideMasters/slideMaster1.xml" Id="R9b4ca78e567b4e2c" /><Relationship Type="http://schemas.openxmlformats.org/officeDocument/2006/relationships/notesMaster" Target="/ppt/notesMasters/notesMaster1.xml" Id="R4c2050158880468d" /><Relationship Type="http://schemas.openxmlformats.org/officeDocument/2006/relationships/presProps" Target="/ppt/presProps.xml" Id="Rd184e72ba902434e" /><Relationship Type="http://schemas.openxmlformats.org/officeDocument/2006/relationships/tableStyles" Target="/ppt/tableStyles.xml" Id="Rb593d946dad849f7" /><Relationship Type="http://schemas.openxmlformats.org/officeDocument/2006/relationships/slide" Target="/ppt/slides/slide1.xml" Id="R3076405410824596" /><Relationship Type="http://schemas.openxmlformats.org/officeDocument/2006/relationships/slide" Target="/ppt/slides/slide2.xml" Id="Rc9262770d5fd494f" /><Relationship Type="http://schemas.openxmlformats.org/officeDocument/2006/relationships/slide" Target="/ppt/slides/slide3.xml" Id="R8c21425974774744" /><Relationship Type="http://schemas.openxmlformats.org/officeDocument/2006/relationships/slide" Target="/ppt/slides/slide4.xml" Id="Rf68b4368949345c7" /><Relationship Type="http://schemas.openxmlformats.org/officeDocument/2006/relationships/slide" Target="/ppt/slides/slide5.xml" Id="Rf9ec1c91db12484f" /><Relationship Type="http://schemas.openxmlformats.org/officeDocument/2006/relationships/slide" Target="/ppt/slides/slide6.xml" Id="Rf19d23bf40924f7b" /><Relationship Type="http://schemas.openxmlformats.org/officeDocument/2006/relationships/slide" Target="/ppt/slides/slide7.xml" Id="R8d9ba16ce02a4349" /><Relationship Type="http://schemas.openxmlformats.org/officeDocument/2006/relationships/slide" Target="/ppt/slides/slide8.xml" Id="R3872e7c122a446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6374514aab4d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d6ca84ae441ed" /><Relationship Type="http://schemas.openxmlformats.org/officeDocument/2006/relationships/notesMaster" Target="/ppt/notesMasters/notesMaster1.xml" Id="Rd675de25e79347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d6181ccb02406d" /><Relationship Type="http://schemas.openxmlformats.org/officeDocument/2006/relationships/notesMaster" Target="/ppt/notesMasters/notesMaster1.xml" Id="R159aa903239241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e7fea542174b3d" /><Relationship Type="http://schemas.openxmlformats.org/officeDocument/2006/relationships/notesMaster" Target="/ppt/notesMasters/notesMaster1.xml" Id="Rd08b2faca07d4e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6a7e0086a04e8d" /><Relationship Type="http://schemas.openxmlformats.org/officeDocument/2006/relationships/notesMaster" Target="/ppt/notesMasters/notesMaster1.xml" Id="Re039e8da131f4c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adbf1d062941be" /><Relationship Type="http://schemas.openxmlformats.org/officeDocument/2006/relationships/notesMaster" Target="/ppt/notesMasters/notesMaster1.xml" Id="R6bcbca47b39f41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7f34199f484507" /><Relationship Type="http://schemas.openxmlformats.org/officeDocument/2006/relationships/notesMaster" Target="/ppt/notesMasters/notesMaster1.xml" Id="R7d8db8cce9c344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90562f7736499d" /><Relationship Type="http://schemas.openxmlformats.org/officeDocument/2006/relationships/notesMaster" Target="/ppt/notesMasters/notesMaster1.xml" Id="R89c4cbacef3741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95c6a4e855474f" /><Relationship Type="http://schemas.openxmlformats.org/officeDocument/2006/relationships/notesMaster" Target="/ppt/notesMasters/notesMaster1.xml" Id="R43563109a2544c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분석은 맥컬러의 기록에서 보완할 역할을 찾고, 그 기준으로 추가 검증 후보를 정리한 탐색적 분석입니다. 먼저 그래프 모형의 예측 성능을 확인했습니다. 실제 선수 궁합을 입증했는지와 후보 개인의 기록이 보완적인지는 구분해서 설명하겠습니다.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2\25-26-TPBL-McC-main\mcc_gnn_analysis\README.md</a:t>
            </a:r>
          </a:p>
          <a:p xmlns:a="http://schemas.openxmlformats.org/drawingml/2006/main">
            <a:r>
              <a:t>C:\Users\junhy\Documents\New project 2\25-26-TPBL-McC-main\mcc_gnn_analysis\v2\run_summary.json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정제 후 자료는 24경기, 385구간, 595.2분입니다. 선수 이벤트와 코트 위 명단이 맞지 않는 16구간을 제외했습니다. 같은 경기의 구간이 학습과 평가에 섞이지 않도록 경기 단위로 나눴습니다. 무작위 경기 교차검증은 사후 비교에 가깝고, 미래 예측 해석은 시간 순서 평가를 우선합니다. 다만 뒤 8경기도 기존에 확인한 자료이므로 완전히 새로운 검증 자료는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2\25-26-TPBL-McC-main\mcc_gnn_analysis\v2\run_summary.json</a:t>
            </a:r>
          </a:p>
          <a:p xmlns:a="http://schemas.openxmlformats.org/drawingml/2006/main">
            <a:r>
              <a:t>C:\Users\junhy\Documents\New project 2\25-26-TPBL-McC-main\mcc_gnn_analysis\v2\splits.csv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순득점을 36분으로 환산한 목표를 예측했습니다. Graph-KRR는 기존 GNN보다 RMSE가 교차검증에서 19.6%, 시간 평가에서 31.1% 감소했습니다. 하지만 단순 평균이나 Ridge보다 잘 예측한다는 근거는 확보하지 못했습니다. 시간 평가의 Graph-KRR 예측은 약 5.78에서 5.88점으로 거의 일정했습니다. 오차 감소만으로 선수 조합 차이를 학습했다고 해석할 수 없습니다. 기존 GNN은 기존 구조와 고정 설정을 사용한 비교 대상입니다.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2\25-26-TPBL-McC-main\mcc_gnn_analysis\v2\paired_comparisons.csv</a:t>
            </a:r>
          </a:p>
          <a:p xmlns:a="http://schemas.openxmlformats.org/drawingml/2006/main">
            <a:r>
              <a:t>C:\Users\junhy\Documents\New project 2\25-26-TPBL-McC-main\mcc_gnn_analysis\v2\predictions.csv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맥컬러의 축소 통계는 표본 내 리바운드 88.9백분위, 득점 61.1백분위입니다. 반면 TS는 11.1백분위, AST/TOV는 13.9, 외곽 생산은 27.8입니다. 리바운드가 약하다고 보고 리바운더만 더하는 설명은 맞지 않습니다. 효율과 공격 연결, 외곽 생산을 보완하는 빅맨을 검토할 수 있습니다. 이것은 기록에서 얻은 전술 가설이고, 실제 궁합을 검증한 결론은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2\25-26-TPBL-McC-main\mcc_gnn_analysis\v2\role_percentiles.csv</a:t>
            </a:r>
          </a:p>
          <a:p xmlns:a="http://schemas.openxmlformats.org/drawingml/2006/main">
            <a:r>
              <a:t>C:\Users\junhy\Documents\New project 2\25-26-TPBL-McC-main\mcc_gnn_analysis\v2\scouting_policy.json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선수 순위는 그래프 모형이 산출한 궁합 순위가 아닙니다. 기본 기여 60%와 맥컬러 보완 40%의 정책 점수입니다. 각 항목은 출전량을 고려해 축소한 기록의 표본 내 백분위를 사용합니다. 보완 비중은 맥컬러가 표본 중위값에 못 미친 정도를 기준으로 정했습니다. 200분 이상 외국인 35명을 비교했고, 계약이나 은퇴 상태로 제외하지 않았습니다. 역할 필터는 분석자가 정한 조건입니다. 점수는 승률이나 영입 성공 확률이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2\25-26-TPBL-McC-main\mcc_gnn_analysis\v2\scouting_policy.json</a:t>
            </a:r>
          </a:p>
          <a:p xmlns:a="http://schemas.openxmlformats.org/drawingml/2006/main">
            <a:r>
              <a:t>C:\Users\junhy\Documents\New project 2\25-26-TPBL-McC-main\mcc_gnn_analysis\v2\expanded_summary.json</a:t>
            </a:r>
          </a:p>
          <a:p xmlns:a="http://schemas.openxmlformats.org/drawingml/2006/main">
            <a:r>
              <a:t>C:\Users\junhy\Documents\New project 2\25-26-TPBL-McC-main\mcc_gnn_analysis\strengthen.py</a:t>
            </a:r>
          </a:p>
          <a:p xmlns:a="http://schemas.openxmlformats.org/drawingml/2006/main">
            <a:r>
              <a:t>C:\Users\junhy\Documents\New project 2\25-26-TPBL-McC-main\mcc_gnn_analysis\expand_scouting.py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빅맨 역할 조건을 통과한 후보 중 Pember, Thompkins, Todorovic을 먼저 검토할 수 있습니다. Pember는 여러 보완 항목을 고르게 충족하지만 3점 성공률은 32.3%이므로 엘리트 슈터로 단정하지 않습니다. Thompkins는 외곽과 패스, Todorovic은 득점과 리바운드가 주된 검토 이유입니다. 전체 2위 Harris는 193cm 가드여서 빅맨 역할과 구분했습니다. Pember의 경기 재표집 점수 범위도 57.8에서 86.8로 넓고 후보 간 구간이 겹칩니다. 실제 계약 여부를 확인한 영입 추천 순위로 제시하지 않습니다.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2\25-26-TPBL-McC-main\mcc_gnn_analysis\v2\expanded_scouting_ranking.csv</a:t>
            </a:r>
          </a:p>
          <a:p xmlns:a="http://schemas.openxmlformats.org/drawingml/2006/main">
            <a:r>
              <a:t>C:\Users\junhy\Documents\New project 2\25-26-TPBL-McC-main\mcc_gnn_analysis\v2\expanded_summary.json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연구에서 실제로 확인한 성과는 맥컬러의 보완 역할을 구체화하고 후보 검토 기준을 명시한 것입니다. 좋은 조합을 찾았다는 결론까지 도달하지는 못했습니다. 385구간 가운데 약 76%가 2분 미만이어서 36분 환산 성과가 크게 흔들립니다. 후속 분석은 동시 출전과 교대 출전을 구분하고, 개인 능력만 반영한 기준선에 조합 상호작용을 추가했을 때 보지 않은 경기에서 성능이 좋아지는지 확인해야 합니다. 수비와 스크린은 영상으로 확인해야 합니다.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2\25-26-TPBL-McC-main\mcc_gnn_analysis\v2\analysis_stints.csv</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2\25-26-TPBL-McC-main\mcc_gnn_analysis\v2\graph_counterfactuals.csv</a:t>
            </a:r>
          </a:p>
          <a:p xmlns:a="http://schemas.openxmlformats.org/drawingml/2006/main">
            <a:r>
              <a:t>C:\Users\junhy\Documents\New project 2\25-26-TPBL-McC-main\mcc_gnn_analysis\v2\type_sensitivity.csv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MSE는 구간의 실제 팀 순득점과 모델 예측의 차이를 제곱해 평균한 값입니다. 구간 길이가 달라 실제값을 36분으로 환산하고 출전시간으로 가중했습니다. 보고서에는 제곱근인 RMSE를 표시했습니다. 내부 3-fold에서 팀 순득점 RMSE가 가장 작은 설정을 골랐으며, MSE를 최소화하는 것과 선택 순서는 같습니다. 낮은 전체 오차만으로 조합 간 차이를 잘 예측한다고 결론낼 수는 없습니다.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2\25-26-TPBL-McC-main\mcc_gnn_analysis\strengthen.py</a:t>
            </a:r>
          </a:p>
          <a:p xmlns:a="http://schemas.openxmlformats.org/drawingml/2006/main">
            <a:r>
              <a:t>C:\Users\junhy\Documents\New project 2\25-26-TPBL-McC-main\mcc_gnn_analysis\v2\hyperparameters.csv</a:t>
            </a:r>
          </a:p>
          <a:p xmlns:a="http://schemas.openxmlformats.org/drawingml/2006/main">
            <a:r>
              <a:t>C:\Users\junhy\Documents\New project 2\25-26-TPBL-McC-main\mcc_gnn_analysis\v2\metrics.csv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e8d9d8ec3340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2c5a224d134c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44c84ca7f649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1b28f1225944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47572de18b4f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0473888b5447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976FB7-3F4A-4B53-A7C6-182F62460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5637CC-9F47-40B9-9C51-258417670A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4D66EF-2E78-432E-BBE3-656B13A97F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9557CD-548D-49DF-A370-013DFE3C54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76B7A4-4987-45AF-828A-02BA1C1BDD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F31344-3CA6-4455-B6AF-7FE7314C8B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E30AC8-6AD1-4E50-9CFE-67D0578D25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14A36E-A335-4E7A-9AAF-2996010367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05FD2A-463F-4531-914C-F00811C9BE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CD6724-FBEE-4365-A850-1FBF02511A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52fd428c334601" /><Relationship Type="http://schemas.openxmlformats.org/officeDocument/2006/relationships/slideLayout" Target="/ppt/slideLayouts/slideLayout1.xml" Id="R3c799205f0d24de8" /><Relationship Type="http://schemas.openxmlformats.org/officeDocument/2006/relationships/slideLayout" Target="/ppt/slideLayouts/slideLayout2.xml" Id="R449e48613cd34f16" /><Relationship Type="http://schemas.openxmlformats.org/officeDocument/2006/relationships/slideLayout" Target="/ppt/slideLayouts/slideLayout3.xml" Id="R01759a9b607b448e" /><Relationship Type="http://schemas.openxmlformats.org/officeDocument/2006/relationships/slideLayout" Target="/ppt/slideLayouts/slideLayout4.xml" Id="R716a304c7d1a4664" /><Relationship Type="http://schemas.openxmlformats.org/officeDocument/2006/relationships/slideLayout" Target="/ppt/slideLayouts/slideLayout5.xml" Id="Reb62d4d252524c77" /><Relationship Type="http://schemas.openxmlformats.org/officeDocument/2006/relationships/slideLayout" Target="/ppt/slideLayouts/slideLayout6.xml" Id="R98ae8b1139c740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799205f0d24de8"/>
    <p:sldLayoutId xmlns:r="http://schemas.openxmlformats.org/officeDocument/2006/relationships" id="2147483650" r:id="R449e48613cd34f16"/>
    <p:sldLayoutId xmlns:r="http://schemas.openxmlformats.org/officeDocument/2006/relationships" id="2147483651" r:id="R01759a9b607b448e"/>
    <p:sldLayoutId xmlns:r="http://schemas.openxmlformats.org/officeDocument/2006/relationships" id="2147483652" r:id="R716a304c7d1a4664"/>
    <p:sldLayoutId xmlns:r="http://schemas.openxmlformats.org/officeDocument/2006/relationships" id="2147483653" r:id="Reb62d4d252524c77"/>
    <p:sldLayoutId xmlns:r="http://schemas.openxmlformats.org/officeDocument/2006/relationships" id="2147483654" r:id="R98ae8b1139c740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d5c05ff35746f8" /><Relationship Type="http://schemas.openxmlformats.org/officeDocument/2006/relationships/notesSlide" Target="/ppt/notesSlides/notesSlide1.xml" Id="Rb10164baad2e4d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2ee33faca7439f" /><Relationship Type="http://schemas.openxmlformats.org/officeDocument/2006/relationships/notesSlide" Target="/ppt/notesSlides/notesSlide2.xml" Id="Rf65d65eb13ac48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0f94ee6f874ba1" /><Relationship Type="http://schemas.openxmlformats.org/officeDocument/2006/relationships/chart" Target="/ppt/slides/charts/chart1.xml" Id="R15444eaa2cdb46f5" /><Relationship Type="http://schemas.openxmlformats.org/officeDocument/2006/relationships/notesSlide" Target="/ppt/notesSlides/notesSlide3.xml" Id="R65beba6cd2994c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81517ecab0461e" /><Relationship Type="http://schemas.openxmlformats.org/officeDocument/2006/relationships/chart" Target="/ppt/slides/charts/chart2.xml" Id="Rd31984ed377b44ba" /><Relationship Type="http://schemas.openxmlformats.org/officeDocument/2006/relationships/notesSlide" Target="/ppt/notesSlides/notesSlide4.xml" Id="R47e7c653a53243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2b36d1b89042b8" /><Relationship Type="http://schemas.openxmlformats.org/officeDocument/2006/relationships/notesSlide" Target="/ppt/notesSlides/notesSlide5.xml" Id="R982712e8fdf240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fb708476c5447c" /><Relationship Type="http://schemas.openxmlformats.org/officeDocument/2006/relationships/notesSlide" Target="/ppt/notesSlides/notesSlide6.xml" Id="R9fe720cf077c4b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039feef5d04d45" /><Relationship Type="http://schemas.openxmlformats.org/officeDocument/2006/relationships/notesSlide" Target="/ppt/notesSlides/notesSlide7.xml" Id="Rff1ad3d7201e49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e48af6ae9441b5" /><Relationship Type="http://schemas.openxmlformats.org/officeDocument/2006/relationships/notesSlide" Target="/ppt/notesSlides/notesSlide8.xml" Id="R4ca48abbb07d49b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경기 교차검증</c:v>
          </c:tx>
          <c:spPr>
            <a:solidFill xmlns:a="http://schemas.openxmlformats.org/drawingml/2006/main">
              <a:srgbClr val="AEBBC6"/>
            </a:solidFill>
          </c:spPr>
          <c:cat>
            <c:strRef>
              <c:f>'Chart Data'!$A$2:$A$5</c:f>
              <c:strCache>
                <c:ptCount val="4"/>
                <c:pt idx="0">
                  <c:v>기존 GNN</c:v>
                </c:pt>
                <c:pt idx="1">
                  <c:v>Graph-KRR</c:v>
                </c:pt>
                <c:pt idx="2">
                  <c:v>단순 평균</c:v>
                </c:pt>
                <c:pt idx="3">
                  <c:v>Ridge</c:v>
                </c:pt>
              </c:strCache>
            </c:strRef>
          </c:cat>
          <c:val>
            <c:numRef>
              <c:f>'Chart Data'!$B$2:$B$5</c:f>
              <c:numCache>
                <c:formatCode>General</c:formatCode>
                <c:ptCount val="4"/>
                <c:pt idx="0">
                  <c:v>86.78</c:v>
                </c:pt>
                <c:pt idx="1">
                  <c:v>69.81</c:v>
                </c:pt>
                <c:pt idx="2">
                  <c:v>69.69</c:v>
                </c:pt>
                <c:pt idx="3">
                  <c:v>69.66</c:v>
                </c:pt>
              </c:numCache>
            </c:numRef>
          </c:val>
        </c:ser>
        <c:ser>
          <c:idx val="1"/>
          <c:order val="1"/>
          <c:tx>
            <c:v>시간 순서 평가</c:v>
          </c:tx>
          <c:spPr>
            <a:solidFill xmlns:a="http://schemas.openxmlformats.org/drawingml/2006/main">
              <a:srgbClr val="176A80"/>
            </a:solidFill>
          </c:spPr>
          <c:cat>
            <c:strRef>
              <c:f>'Chart Data'!$C$2:$C$5</c:f>
              <c:strCache>
                <c:ptCount val="4"/>
                <c:pt idx="0">
                  <c:v>기존 GNN</c:v>
                </c:pt>
                <c:pt idx="1">
                  <c:v>Graph-KRR</c:v>
                </c:pt>
                <c:pt idx="2">
                  <c:v>단순 평균</c:v>
                </c:pt>
                <c:pt idx="3">
                  <c:v>Ridge</c:v>
                </c:pt>
              </c:strCache>
            </c:strRef>
          </c:cat>
          <c:val>
            <c:numRef>
              <c:f>'Chart Data'!$D$2:$D$5</c:f>
              <c:numCache>
                <c:formatCode>General</c:formatCode>
                <c:ptCount val="4"/>
                <c:pt idx="0">
                  <c:v>93.49</c:v>
                </c:pt>
                <c:pt idx="1">
                  <c:v>64.43</c:v>
                </c:pt>
                <c:pt idx="2">
                  <c:v>64.43</c:v>
                </c:pt>
                <c:pt idx="3">
                  <c:v>64.43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b="1">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10"/>
          <c:min val="0"/>
        </c:scaling>
        <c:delete val="0"/>
        <c:axPos val="l"/>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백분위</c:v>
          </c:tx>
          <c:spPr>
            <a:solidFill xmlns:a="http://schemas.openxmlformats.org/drawingml/2006/main">
              <a:srgbClr val="176A80"/>
            </a:solidFill>
          </c:spPr>
          <c:dPt>
            <c:idx val="0"/>
            <c:invertIfNegative val="0"/>
            <c:spPr>
              <a:solidFill xmlns:a="http://schemas.openxmlformats.org/drawingml/2006/main">
                <a:srgbClr val="BB6C36"/>
              </a:solidFill>
            </c:spPr>
          </c:dPt>
          <c:dPt>
            <c:idx val="1"/>
            <c:invertIfNegative val="0"/>
            <c:spPr>
              <a:solidFill xmlns:a="http://schemas.openxmlformats.org/drawingml/2006/main">
                <a:srgbClr val="BB6C36"/>
              </a:solidFill>
            </c:spPr>
          </c:dPt>
          <c:dPt>
            <c:idx val="2"/>
            <c:invertIfNegative val="0"/>
            <c:spPr>
              <a:solidFill xmlns:a="http://schemas.openxmlformats.org/drawingml/2006/main">
                <a:srgbClr val="BB6C36"/>
              </a:solidFill>
            </c:spPr>
          </c:dPt>
          <c:dPt>
            <c:idx val="3"/>
            <c:invertIfNegative val="0"/>
            <c:spPr>
              <a:solidFill xmlns:a="http://schemas.openxmlformats.org/drawingml/2006/main">
                <a:srgbClr val="176A80"/>
              </a:solidFill>
            </c:spPr>
          </c:dPt>
          <c:dPt>
            <c:idx val="4"/>
            <c:invertIfNegative val="0"/>
            <c:spPr>
              <a:solidFill xmlns:a="http://schemas.openxmlformats.org/drawingml/2006/main">
                <a:srgbClr val="176A80"/>
              </a:solidFill>
            </c:spPr>
          </c:dPt>
          <c:cat>
            <c:strRef>
              <c:f>'Chart Data'!$A$2:$A$6</c:f>
              <c:strCache>
                <c:ptCount val="5"/>
                <c:pt idx="0">
                  <c:v>득점 효율 TS</c:v>
                </c:pt>
                <c:pt idx="1">
                  <c:v>패스/실책 AST/TOV</c:v>
                </c:pt>
                <c:pt idx="2">
                  <c:v>외곽 생산/36분</c:v>
                </c:pt>
                <c:pt idx="3">
                  <c:v>득점/36분</c:v>
                </c:pt>
                <c:pt idx="4">
                  <c:v>리바운드/36분</c:v>
                </c:pt>
              </c:strCache>
            </c:strRef>
          </c:cat>
          <c:val>
            <c:numRef>
              <c:f>'Chart Data'!$B$2:$B$6</c:f>
              <c:numCache>
                <c:formatCode>General</c:formatCode>
                <c:ptCount val="5"/>
                <c:pt idx="0">
                  <c:v>11.1</c:v>
                </c:pt>
                <c:pt idx="1">
                  <c:v>13.9</c:v>
                </c:pt>
                <c:pt idx="2">
                  <c:v>27.8</c:v>
                </c:pt>
                <c:pt idx="3">
                  <c:v>61.1</c:v>
                </c:pt>
                <c:pt idx="4">
                  <c:v>88.9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Malgun Gothic"/>
                  <a:ea typeface="Malgun Gothic"/>
                  <a:cs typeface="Malgun Gothic"/>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00"/>
          <c:min val="0"/>
        </c:scaling>
        <c:delete val="0"/>
        <c:axPos val="b"/>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6516F0-D1BF-4AF9-AFCF-9053BEDF125D}"/>
              </a:ext>
            </a:extLst>
          </p:cNvPr>
          <p:cNvSpPr>
            <a:spLocks xmlns:a="http://schemas.openxmlformats.org/drawingml/2006/main" noGrp="1"/>
          </p:cNvSpPr>
          <p:nvPr/>
        </p:nvSpPr>
        <p:spPr>
          <a:xfrm xmlns:a="http://schemas.openxmlformats.org/drawingml/2006/main">
            <a:off x="609600" y="16192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82C3A"/>
                </a:solidFill>
              </a:defRPr>
            </a:defPPr>
          </a:lstStyle>
          <a:p xmlns:a="http://schemas.openxmlformats.org/drawingml/2006/main">
            <a:pPr>
              <a:defRPr sz="4950" b="1">
                <a:solidFill>
                  <a:srgbClr val="182C3A"/>
                </a:solidFill>
              </a:defRPr>
            </a:pPr>
            <a:r>
              <a:rPr sz="4950" b="1">
                <a:solidFill>
                  <a:srgbClr val="182C3A"/>
                </a:solidFill>
              </a:rPr>
              <a:t>맥컬러의 보완 유형과</a:t>
            </a:r>
          </a:p>
          <a:p xmlns:a="http://schemas.openxmlformats.org/drawingml/2006/main">
            <a:pPr>
              <a:defRPr sz="4950" b="1">
                <a:solidFill>
                  <a:srgbClr val="182C3A"/>
                </a:solidFill>
              </a:defRPr>
            </a:pPr>
            <a:r>
              <a:rPr sz="4950" b="1">
                <a:solidFill>
                  <a:srgbClr val="182C3A"/>
                </a:solidFill>
              </a:rPr>
              <a:t>후보 검토</a:t>
            </a:r>
          </a:p>
        </p:txBody>
      </p:sp>
      <p:sp>
        <p:nvSpPr>
          <p:cNvPr id="2" name="">
            <a:extLst xmlns:a="http://schemas.openxmlformats.org/drawingml/2006/main">
              <a:ext uri="{FF2B5EF4-FFF2-40B4-BE49-F238E27FC236}">
                <a16:creationId xmlns:a16="http://schemas.microsoft.com/office/drawing/2014/main" id="{D94E962C-21BC-490E-B618-E3DB422BF0C8}"/>
              </a:ext>
            </a:extLst>
          </p:cNvPr>
          <p:cNvSpPr>
            <a:spLocks xmlns:a="http://schemas.openxmlformats.org/drawingml/2006/main" noGrp="1"/>
          </p:cNvSpPr>
          <p:nvPr/>
        </p:nvSpPr>
        <p:spPr>
          <a:xfrm xmlns:a="http://schemas.openxmlformats.org/drawingml/2006/main">
            <a:off x="647700" y="3714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6A80"/>
                </a:solidFill>
              </a:defRPr>
            </a:defPPr>
          </a:lstStyle>
          <a:p xmlns:a="http://schemas.openxmlformats.org/drawingml/2006/main">
            <a:pPr>
              <a:defRPr sz="2325" b="0">
                <a:solidFill>
                  <a:srgbClr val="176A80"/>
                </a:solidFill>
              </a:defRPr>
            </a:pPr>
            <a:r>
              <a:rPr sz="2325" b="0">
                <a:solidFill>
                  <a:srgbClr val="176A80"/>
                </a:solidFill>
              </a:rPr>
              <a:t>TPBL 기록을 활용한 탐색적 분석</a:t>
            </a:r>
          </a:p>
        </p:txBody>
      </p:sp>
      <p:sp>
        <p:nvSpPr>
          <p:cNvPr id="3" name="">
            <a:extLst xmlns:a="http://schemas.openxmlformats.org/drawingml/2006/main">
              <a:ext uri="{FF2B5EF4-FFF2-40B4-BE49-F238E27FC236}">
                <a16:creationId xmlns:a16="http://schemas.microsoft.com/office/drawing/2014/main" id="{B4D19225-D9D1-4FC9-889F-ECC34B64D065}"/>
              </a:ext>
            </a:extLst>
          </p:cNvPr>
          <p:cNvSpPr>
            <a:spLocks xmlns:a="http://schemas.openxmlformats.org/drawingml/2006/main" noGrp="1"/>
          </p:cNvSpPr>
          <p:nvPr/>
        </p:nvSpPr>
        <p:spPr>
          <a:xfrm xmlns:a="http://schemas.openxmlformats.org/drawingml/2006/main">
            <a:off x="647700" y="44291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976"/>
                </a:solidFill>
              </a:defRPr>
            </a:defPPr>
          </a:lstStyle>
          <a:p xmlns:a="http://schemas.openxmlformats.org/drawingml/2006/main">
            <a:pPr>
              <a:defRPr sz="2100" b="0">
                <a:solidFill>
                  <a:srgbClr val="586976"/>
                </a:solidFill>
              </a:defRPr>
            </a:pPr>
            <a:r>
              <a:rPr sz="2100" b="0">
                <a:solidFill>
                  <a:srgbClr val="586976"/>
                </a:solidFill>
              </a:rPr>
              <a:t>모델 성능 검증과 역할 보완 기준</a:t>
            </a:r>
          </a:p>
        </p:txBody>
      </p:sp>
      <p:sp>
        <p:nvSpPr>
          <p:cNvPr id="4" name="">
            <a:extLst xmlns:a="http://schemas.openxmlformats.org/drawingml/2006/main">
              <a:ext uri="{FF2B5EF4-FFF2-40B4-BE49-F238E27FC236}">
                <a16:creationId xmlns:a16="http://schemas.microsoft.com/office/drawing/2014/main" id="{B0DCF928-A6AE-4401-8F96-E4925283F136}"/>
              </a:ext>
            </a:extLst>
          </p:cNvPr>
          <p:cNvSpPr>
            <a:spLocks xmlns:a="http://schemas.openxmlformats.org/drawingml/2006/main" noGrp="1"/>
          </p:cNvSpPr>
          <p:nvPr/>
        </p:nvSpPr>
        <p:spPr>
          <a:xfrm xmlns:a="http://schemas.openxmlformats.org/drawingml/2006/main">
            <a:off x="647700" y="616267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6976"/>
                </a:solidFill>
              </a:defRPr>
            </a:defPPr>
          </a:lstStyle>
          <a:p xmlns:a="http://schemas.openxmlformats.org/drawingml/2006/main">
            <a:pPr>
              <a:defRPr sz="1350" b="0">
                <a:solidFill>
                  <a:srgbClr val="586976"/>
                </a:solidFill>
              </a:defRPr>
            </a:pPr>
            <a:r>
              <a:rPr sz="1350" b="0">
                <a:solidFill>
                  <a:srgbClr val="586976"/>
                </a:solidFill>
              </a:rPr>
              <a:t>분석 자료 기준 2026.10.10</a:t>
            </a:r>
          </a:p>
        </p:txBody>
      </p:sp>
    </p:spTree>
    <p:extLst>
      <p:ext uri="{BB962C8B-B14F-4D97-AF65-F5344CB8AC3E}">
        <p14:creationId xmlns:p14="http://schemas.microsoft.com/office/powerpoint/2010/main" val="189264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22DF03-847A-449D-88B9-152D7D8FA42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분석 자료와 검증 설계</a:t>
            </a:r>
          </a:p>
        </p:txBody>
      </p:sp>
      <p:sp>
        <p:nvSpPr>
          <p:cNvPr id="2" name="">
            <a:extLst xmlns:a="http://schemas.openxmlformats.org/drawingml/2006/main">
              <a:ext uri="{FF2B5EF4-FFF2-40B4-BE49-F238E27FC236}">
                <a16:creationId xmlns:a16="http://schemas.microsoft.com/office/drawing/2014/main" id="{27BCD667-E1A3-488D-98AF-5F27AE21672F}"/>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자료: 정제된 맥컬러 출전 구간. 시간 평가 8경기는 이전 분석에서 확인한 자료.</a:t>
            </a:r>
          </a:p>
        </p:txBody>
      </p:sp>
      <p:sp>
        <p:nvSpPr>
          <p:cNvPr id="3" name="">
            <a:extLst xmlns:a="http://schemas.openxmlformats.org/drawingml/2006/main">
              <a:ext uri="{FF2B5EF4-FFF2-40B4-BE49-F238E27FC236}">
                <a16:creationId xmlns:a16="http://schemas.microsoft.com/office/drawing/2014/main" id="{3D830C0F-47ED-4427-8EA8-2503C2FB6062}"/>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02</a:t>
            </a:r>
          </a:p>
        </p:txBody>
      </p:sp>
      <p:sp>
        <p:nvSpPr>
          <p:cNvPr id="4" name="">
            <a:extLst xmlns:a="http://schemas.openxmlformats.org/drawingml/2006/main">
              <a:ext uri="{FF2B5EF4-FFF2-40B4-BE49-F238E27FC236}">
                <a16:creationId xmlns:a16="http://schemas.microsoft.com/office/drawing/2014/main" id="{58BB1A8A-19B4-44AD-8814-C1219D1BE4BF}"/>
              </a:ext>
            </a:extLst>
          </p:cNvPr>
          <p:cNvSpPr>
            <a:spLocks xmlns:a="http://schemas.openxmlformats.org/drawingml/2006/main" noGrp="1"/>
          </p:cNvSpPr>
          <p:nvPr/>
        </p:nvSpPr>
        <p:spPr>
          <a:xfrm xmlns:a="http://schemas.openxmlformats.org/drawingml/2006/main">
            <a:off x="609600"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defRPr>
            </a:defPPr>
          </a:lstStyle>
          <a:p xmlns:a="http://schemas.openxmlformats.org/drawingml/2006/main">
            <a:pPr>
              <a:defRPr sz="4500" b="1">
                <a:solidFill>
                  <a:srgbClr val="176A80"/>
                </a:solidFill>
              </a:defRPr>
            </a:pPr>
            <a:r>
              <a:rPr sz="4500" b="1">
                <a:solidFill>
                  <a:srgbClr val="176A80"/>
                </a:solidFill>
              </a:rPr>
              <a:t>24경기</a:t>
            </a:r>
          </a:p>
        </p:txBody>
      </p:sp>
      <p:sp>
        <p:nvSpPr>
          <p:cNvPr id="5" name="">
            <a:extLst xmlns:a="http://schemas.openxmlformats.org/drawingml/2006/main">
              <a:ext uri="{FF2B5EF4-FFF2-40B4-BE49-F238E27FC236}">
                <a16:creationId xmlns:a16="http://schemas.microsoft.com/office/drawing/2014/main" id="{C8281329-E8FE-41B4-9CF6-8498AE5C90C2}"/>
              </a:ext>
            </a:extLst>
          </p:cNvPr>
          <p:cNvSpPr>
            <a:spLocks xmlns:a="http://schemas.openxmlformats.org/drawingml/2006/main" noGrp="1"/>
          </p:cNvSpPr>
          <p:nvPr/>
        </p:nvSpPr>
        <p:spPr>
          <a:xfrm xmlns:a="http://schemas.openxmlformats.org/drawingml/2006/main">
            <a:off x="4429125"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defRPr>
            </a:defPPr>
          </a:lstStyle>
          <a:p xmlns:a="http://schemas.openxmlformats.org/drawingml/2006/main">
            <a:pPr>
              <a:defRPr sz="4500" b="1">
                <a:solidFill>
                  <a:srgbClr val="176A80"/>
                </a:solidFill>
              </a:defRPr>
            </a:pPr>
            <a:r>
              <a:rPr sz="4500" b="1">
                <a:solidFill>
                  <a:srgbClr val="176A80"/>
                </a:solidFill>
              </a:rPr>
              <a:t>385구간</a:t>
            </a:r>
          </a:p>
        </p:txBody>
      </p:sp>
      <p:sp>
        <p:nvSpPr>
          <p:cNvPr id="6" name="">
            <a:extLst xmlns:a="http://schemas.openxmlformats.org/drawingml/2006/main">
              <a:ext uri="{FF2B5EF4-FFF2-40B4-BE49-F238E27FC236}">
                <a16:creationId xmlns:a16="http://schemas.microsoft.com/office/drawing/2014/main" id="{D2553FFE-7AD4-4D52-8A84-4CD59024A838}"/>
              </a:ext>
            </a:extLst>
          </p:cNvPr>
          <p:cNvSpPr>
            <a:spLocks xmlns:a="http://schemas.openxmlformats.org/drawingml/2006/main" noGrp="1"/>
          </p:cNvSpPr>
          <p:nvPr/>
        </p:nvSpPr>
        <p:spPr>
          <a:xfrm xmlns:a="http://schemas.openxmlformats.org/drawingml/2006/main">
            <a:off x="8334375" y="1619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defRPr>
            </a:defPPr>
          </a:lstStyle>
          <a:p xmlns:a="http://schemas.openxmlformats.org/drawingml/2006/main">
            <a:pPr>
              <a:defRPr sz="4500" b="1">
                <a:solidFill>
                  <a:srgbClr val="176A80"/>
                </a:solidFill>
              </a:defRPr>
            </a:pPr>
            <a:r>
              <a:rPr sz="4500" b="1">
                <a:solidFill>
                  <a:srgbClr val="176A80"/>
                </a:solidFill>
              </a:rPr>
              <a:t>595.2분</a:t>
            </a:r>
          </a:p>
        </p:txBody>
      </p:sp>
      <p:sp>
        <p:nvSpPr>
          <p:cNvPr id="7" name="">
            <a:extLst xmlns:a="http://schemas.openxmlformats.org/drawingml/2006/main">
              <a:ext uri="{FF2B5EF4-FFF2-40B4-BE49-F238E27FC236}">
                <a16:creationId xmlns:a16="http://schemas.microsoft.com/office/drawing/2014/main" id="{F5EFEE45-A2B1-4E93-830E-9CDDDEBEB57B}"/>
              </a:ext>
            </a:extLst>
          </p:cNvPr>
          <p:cNvSpPr>
            <a:spLocks xmlns:a="http://schemas.openxmlformats.org/drawingml/2006/main" noGrp="1"/>
          </p:cNvSpPr>
          <p:nvPr/>
        </p:nvSpPr>
        <p:spPr>
          <a:xfrm xmlns:a="http://schemas.openxmlformats.org/drawingml/2006/main">
            <a:off x="628650"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defRPr>
            </a:defPPr>
          </a:lstStyle>
          <a:p xmlns:a="http://schemas.openxmlformats.org/drawingml/2006/main">
            <a:pPr>
              <a:defRPr sz="1950" b="1">
                <a:solidFill>
                  <a:srgbClr val="182C3A"/>
                </a:solidFill>
              </a:defRPr>
            </a:pPr>
            <a:r>
              <a:rPr sz="1950" b="1">
                <a:solidFill>
                  <a:srgbClr val="182C3A"/>
                </a:solidFill>
              </a:rPr>
              <a:t>분석 대상</a:t>
            </a:r>
          </a:p>
        </p:txBody>
      </p:sp>
      <p:sp>
        <p:nvSpPr>
          <p:cNvPr id="8" name="">
            <a:extLst xmlns:a="http://schemas.openxmlformats.org/drawingml/2006/main">
              <a:ext uri="{FF2B5EF4-FFF2-40B4-BE49-F238E27FC236}">
                <a16:creationId xmlns:a16="http://schemas.microsoft.com/office/drawing/2014/main" id="{0F66E498-85AA-4A8F-AD41-A5B90FD23165}"/>
              </a:ext>
            </a:extLst>
          </p:cNvPr>
          <p:cNvSpPr>
            <a:spLocks xmlns:a="http://schemas.openxmlformats.org/drawingml/2006/main" noGrp="1"/>
          </p:cNvSpPr>
          <p:nvPr/>
        </p:nvSpPr>
        <p:spPr>
          <a:xfrm xmlns:a="http://schemas.openxmlformats.org/drawingml/2006/main">
            <a:off x="4429125"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defRPr>
            </a:defPPr>
          </a:lstStyle>
          <a:p xmlns:a="http://schemas.openxmlformats.org/drawingml/2006/main">
            <a:pPr>
              <a:defRPr sz="1950" b="1">
                <a:solidFill>
                  <a:srgbClr val="182C3A"/>
                </a:solidFill>
              </a:defRPr>
            </a:pPr>
            <a:r>
              <a:rPr sz="1950" b="1">
                <a:solidFill>
                  <a:srgbClr val="182C3A"/>
                </a:solidFill>
              </a:rPr>
              <a:t>라인업 유지 구간</a:t>
            </a:r>
          </a:p>
        </p:txBody>
      </p:sp>
      <p:sp>
        <p:nvSpPr>
          <p:cNvPr id="9" name="">
            <a:extLst xmlns:a="http://schemas.openxmlformats.org/drawingml/2006/main">
              <a:ext uri="{FF2B5EF4-FFF2-40B4-BE49-F238E27FC236}">
                <a16:creationId xmlns:a16="http://schemas.microsoft.com/office/drawing/2014/main" id="{D29625D0-3849-4239-81C0-534C4C70018D}"/>
              </a:ext>
            </a:extLst>
          </p:cNvPr>
          <p:cNvSpPr>
            <a:spLocks xmlns:a="http://schemas.openxmlformats.org/drawingml/2006/main" noGrp="1"/>
          </p:cNvSpPr>
          <p:nvPr/>
        </p:nvSpPr>
        <p:spPr>
          <a:xfrm xmlns:a="http://schemas.openxmlformats.org/drawingml/2006/main">
            <a:off x="8334375" y="26193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defRPr>
            </a:defPPr>
          </a:lstStyle>
          <a:p xmlns:a="http://schemas.openxmlformats.org/drawingml/2006/main">
            <a:pPr>
              <a:defRPr sz="1950" b="1">
                <a:solidFill>
                  <a:srgbClr val="182C3A"/>
                </a:solidFill>
              </a:defRPr>
            </a:pPr>
            <a:r>
              <a:rPr sz="1950" b="1">
                <a:solidFill>
                  <a:srgbClr val="182C3A"/>
                </a:solidFill>
              </a:rPr>
              <a:t>정제 후 출전시간</a:t>
            </a:r>
          </a:p>
        </p:txBody>
      </p:sp>
      <p:sp>
        <p:nvSpPr>
          <p:cNvPr id="10" name="">
            <a:extLst xmlns:a="http://schemas.openxmlformats.org/drawingml/2006/main">
              <a:ext uri="{FF2B5EF4-FFF2-40B4-BE49-F238E27FC236}">
                <a16:creationId xmlns:a16="http://schemas.microsoft.com/office/drawing/2014/main" id="{7859595C-B454-4193-9650-B0114E61202B}"/>
              </a:ext>
            </a:extLst>
          </p:cNvPr>
          <p:cNvSpPr>
            <a:spLocks xmlns:a="http://schemas.openxmlformats.org/drawingml/2006/main" noGrp="1"/>
          </p:cNvSpPr>
          <p:nvPr/>
        </p:nvSpPr>
        <p:spPr>
          <a:xfrm xmlns:a="http://schemas.openxmlformats.org/drawingml/2006/main">
            <a:off x="609600" y="35718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defRPr>
            </a:defPPr>
          </a:lstStyle>
          <a:p xmlns:a="http://schemas.openxmlformats.org/drawingml/2006/main">
            <a:pPr>
              <a:defRPr sz="2250" b="1">
                <a:solidFill>
                  <a:srgbClr val="182C3A"/>
                </a:solidFill>
              </a:defRPr>
            </a:pPr>
            <a:r>
              <a:rPr sz="2250" b="1">
                <a:solidFill>
                  <a:srgbClr val="182C3A"/>
                </a:solidFill>
              </a:rPr>
              <a:t>경기 단위 검증</a:t>
            </a:r>
          </a:p>
        </p:txBody>
      </p:sp>
      <p:sp>
        <p:nvSpPr>
          <p:cNvPr id="11" name="">
            <a:extLst xmlns:a="http://schemas.openxmlformats.org/drawingml/2006/main">
              <a:ext uri="{FF2B5EF4-FFF2-40B4-BE49-F238E27FC236}">
                <a16:creationId xmlns:a16="http://schemas.microsoft.com/office/drawing/2014/main" id="{2A58B905-4ABB-4C33-9D41-07F7B870F91E}"/>
              </a:ext>
            </a:extLst>
          </p:cNvPr>
          <p:cNvSpPr>
            <a:spLocks xmlns:a="http://schemas.openxmlformats.org/drawingml/2006/main" noGrp="1"/>
          </p:cNvSpPr>
          <p:nvPr/>
        </p:nvSpPr>
        <p:spPr>
          <a:xfrm xmlns:a="http://schemas.openxmlformats.org/drawingml/2006/main">
            <a:off x="609600" y="4171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defRPr>
            </a:defPPr>
          </a:lstStyle>
          <a:p xmlns:a="http://schemas.openxmlformats.org/drawingml/2006/main">
            <a:pPr>
              <a:defRPr sz="2100" b="0">
                <a:solidFill>
                  <a:srgbClr val="182C3A"/>
                </a:solidFill>
              </a:defRPr>
            </a:pPr>
            <a:r>
              <a:rPr sz="2100" b="0">
                <a:solidFill>
                  <a:srgbClr val="182C3A"/>
                </a:solidFill>
              </a:rPr>
              <a:t>외부 5-fold 평가와 내부 3-fold 설정 선택</a:t>
            </a:r>
          </a:p>
        </p:txBody>
      </p:sp>
      <p:sp>
        <p:nvSpPr>
          <p:cNvPr id="12" name="">
            <a:extLst xmlns:a="http://schemas.openxmlformats.org/drawingml/2006/main">
              <a:ext uri="{FF2B5EF4-FFF2-40B4-BE49-F238E27FC236}">
                <a16:creationId xmlns:a16="http://schemas.microsoft.com/office/drawing/2014/main" id="{E716603E-F9F6-4592-B8E9-88CA448BA227}"/>
              </a:ext>
            </a:extLst>
          </p:cNvPr>
          <p:cNvSpPr>
            <a:spLocks xmlns:a="http://schemas.openxmlformats.org/drawingml/2006/main" noGrp="1"/>
          </p:cNvSpPr>
          <p:nvPr/>
        </p:nvSpPr>
        <p:spPr>
          <a:xfrm xmlns:a="http://schemas.openxmlformats.org/drawingml/2006/main">
            <a:off x="609600" y="488632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defRPr>
            </a:defPPr>
          </a:lstStyle>
          <a:p xmlns:a="http://schemas.openxmlformats.org/drawingml/2006/main">
            <a:pPr>
              <a:defRPr sz="2250" b="1">
                <a:solidFill>
                  <a:srgbClr val="182C3A"/>
                </a:solidFill>
              </a:defRPr>
            </a:pPr>
            <a:r>
              <a:rPr sz="2250" b="1">
                <a:solidFill>
                  <a:srgbClr val="182C3A"/>
                </a:solidFill>
              </a:rPr>
              <a:t>시간 순서 평가</a:t>
            </a:r>
          </a:p>
        </p:txBody>
      </p:sp>
      <p:sp>
        <p:nvSpPr>
          <p:cNvPr id="13" name="">
            <a:extLst xmlns:a="http://schemas.openxmlformats.org/drawingml/2006/main">
              <a:ext uri="{FF2B5EF4-FFF2-40B4-BE49-F238E27FC236}">
                <a16:creationId xmlns:a16="http://schemas.microsoft.com/office/drawing/2014/main" id="{0467FAC4-B473-4B8B-967A-3D81E7EFBA88}"/>
              </a:ext>
            </a:extLst>
          </p:cNvPr>
          <p:cNvSpPr>
            <a:spLocks xmlns:a="http://schemas.openxmlformats.org/drawingml/2006/main" noGrp="1"/>
          </p:cNvSpPr>
          <p:nvPr/>
        </p:nvSpPr>
        <p:spPr>
          <a:xfrm xmlns:a="http://schemas.openxmlformats.org/drawingml/2006/main">
            <a:off x="609600" y="54102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defRPr>
            </a:defPPr>
          </a:lstStyle>
          <a:p xmlns:a="http://schemas.openxmlformats.org/drawingml/2006/main">
            <a:pPr>
              <a:defRPr sz="1875" b="0">
                <a:solidFill>
                  <a:srgbClr val="182C3A"/>
                </a:solidFill>
              </a:defRPr>
            </a:pPr>
            <a:r>
              <a:rPr sz="1875" b="0">
                <a:solidFill>
                  <a:srgbClr val="182C3A"/>
                </a:solidFill>
              </a:rPr>
              <a:t>앞 16경기 학습, 뒤 8경기 평가</a:t>
            </a:r>
          </a:p>
          <a:p xmlns:a="http://schemas.openxmlformats.org/drawingml/2006/main">
            <a:pPr>
              <a:defRPr sz="1875" b="0">
                <a:solidFill>
                  <a:srgbClr val="182C3A"/>
                </a:solidFill>
              </a:defRPr>
            </a:pPr>
            <a:r>
              <a:rPr sz="1875" b="0">
                <a:solidFill>
                  <a:srgbClr val="182C3A"/>
                </a:solidFill>
              </a:rPr>
              <a:t>평가 특성은 첫 평가일 이전으로 동결</a:t>
            </a:r>
          </a:p>
        </p:txBody>
      </p:sp>
    </p:spTree>
    <p:extLst>
      <p:ext uri="{BB962C8B-B14F-4D97-AF65-F5344CB8AC3E}">
        <p14:creationId xmlns:p14="http://schemas.microsoft.com/office/powerpoint/2010/main" val="2867678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694E72-2090-4267-9331-E3F88D91CEB2}"/>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기존 GNN 대비 오차 감소, 기준선 대비 이득은 미확인</a:t>
            </a:r>
          </a:p>
        </p:txBody>
      </p:sp>
      <p:sp>
        <p:nvSpPr>
          <p:cNvPr id="2" name="">
            <a:extLst xmlns:a="http://schemas.openxmlformats.org/drawingml/2006/main">
              <a:ext uri="{FF2B5EF4-FFF2-40B4-BE49-F238E27FC236}">
                <a16:creationId xmlns:a16="http://schemas.microsoft.com/office/drawing/2014/main" id="{E600C247-4E8A-4055-8707-A40261BD9F8B}"/>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팀 순득점/36분의 출전시간 가중 RMSE. 낮을수록 좋음. 시간 평가 8경기는 재사용 자료.</a:t>
            </a:r>
          </a:p>
        </p:txBody>
      </p:sp>
      <p:sp>
        <p:nvSpPr>
          <p:cNvPr id="3" name="">
            <a:extLst xmlns:a="http://schemas.openxmlformats.org/drawingml/2006/main">
              <a:ext uri="{FF2B5EF4-FFF2-40B4-BE49-F238E27FC236}">
                <a16:creationId xmlns:a16="http://schemas.microsoft.com/office/drawing/2014/main" id="{AF5C60CF-737F-4983-9F2C-3D8AF7CCA7F8}"/>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03</a:t>
            </a:r>
          </a:p>
        </p:txBody>
      </p:sp>
      <p:graphicFrame>
        <p:nvGraphicFramePr>
          <p:cNvPr id="4" name="Chart">
            <a:extLst xmlns:a="http://schemas.openxmlformats.org/drawingml/2006/main">
              <a:ext uri="{FF2B5EF4-FFF2-40B4-BE49-F238E27FC236}">
                <a16:creationId xmlns:a16="http://schemas.microsoft.com/office/drawing/2014/main" id="{31C9FE55-22A6-41F1-B82C-862F269C4317}"/>
              </a:ext>
            </a:extLst>
          </p:cNvPr>
          <p:cNvGraphicFramePr/>
          <p:nvPr/>
        </p:nvGraphicFramePr>
        <p:xfrm>
          <a:off xmlns:a="http://schemas.openxmlformats.org/drawingml/2006/main" x="609600" y="1457325"/>
          <a:ext xmlns:a="http://schemas.openxmlformats.org/drawingml/2006/main" cx="10953750" cy="3333750"/>
        </p:xfrm>
        <a:graphic xmlns:a="http://schemas.openxmlformats.org/drawingml/2006/main">
          <a:graphicData uri="http://schemas.openxmlformats.org/drawingml/2006/chart">
            <c:chart xmlns:r="http://schemas.openxmlformats.org/officeDocument/2006/relationships" xmlns:c="http://schemas.openxmlformats.org/drawingml/2006/chart" r:id="R15444eaa2cdb46f5"/>
          </a:graphicData>
        </a:graphic>
      </p:graphicFrame>
      <p:sp>
        <p:nvSpPr>
          <p:cNvPr id="5" name="">
            <a:extLst xmlns:a="http://schemas.openxmlformats.org/drawingml/2006/main">
              <a:ext uri="{FF2B5EF4-FFF2-40B4-BE49-F238E27FC236}">
                <a16:creationId xmlns:a16="http://schemas.microsoft.com/office/drawing/2014/main" id="{CBE6A66E-1493-4F63-92F4-9303CD9D52FF}"/>
              </a:ext>
            </a:extLst>
          </p:cNvPr>
          <p:cNvSpPr>
            <a:spLocks xmlns:a="http://schemas.openxmlformats.org/drawingml/2006/main" noGrp="1"/>
          </p:cNvSpPr>
          <p:nvPr/>
        </p:nvSpPr>
        <p:spPr>
          <a:xfrm xmlns:a="http://schemas.openxmlformats.org/drawingml/2006/main">
            <a:off x="609600" y="5010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A80"/>
                </a:solidFill>
              </a:defRPr>
            </a:defPPr>
          </a:lstStyle>
          <a:p xmlns:a="http://schemas.openxmlformats.org/drawingml/2006/main">
            <a:pPr>
              <a:defRPr sz="2250" b="1">
                <a:solidFill>
                  <a:srgbClr val="176A80"/>
                </a:solidFill>
              </a:defRPr>
            </a:pPr>
            <a:r>
              <a:rPr sz="2250" b="1">
                <a:solidFill>
                  <a:srgbClr val="176A80"/>
                </a:solidFill>
              </a:rPr>
              <a:t>기존 GNN 대비 RMSE 감소: 19.6% / 31.1%</a:t>
            </a:r>
          </a:p>
        </p:txBody>
      </p:sp>
      <p:sp>
        <p:nvSpPr>
          <p:cNvPr id="6" name="">
            <a:extLst xmlns:a="http://schemas.openxmlformats.org/drawingml/2006/main">
              <a:ext uri="{FF2B5EF4-FFF2-40B4-BE49-F238E27FC236}">
                <a16:creationId xmlns:a16="http://schemas.microsoft.com/office/drawing/2014/main" id="{D26E5159-CC41-43ED-BB54-33217E35BE7D}"/>
              </a:ext>
            </a:extLst>
          </p:cNvPr>
          <p:cNvSpPr>
            <a:spLocks xmlns:a="http://schemas.openxmlformats.org/drawingml/2006/main" noGrp="1"/>
          </p:cNvSpPr>
          <p:nvPr/>
        </p:nvSpPr>
        <p:spPr>
          <a:xfrm xmlns:a="http://schemas.openxmlformats.org/drawingml/2006/main">
            <a:off x="609600" y="5610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defRPr>
            </a:defPPr>
          </a:lstStyle>
          <a:p xmlns:a="http://schemas.openxmlformats.org/drawingml/2006/main">
            <a:pPr>
              <a:defRPr sz="1875" b="0">
                <a:solidFill>
                  <a:srgbClr val="182C3A"/>
                </a:solidFill>
              </a:defRPr>
            </a:pPr>
            <a:r>
              <a:rPr sz="1875" b="0">
                <a:solidFill>
                  <a:srgbClr val="182C3A"/>
                </a:solidFill>
              </a:rPr>
              <a:t>단순 평균과 비슷한 성능으로 조합 차이를 예측하는 능력은 입증하지 못함</a:t>
            </a:r>
          </a:p>
        </p:txBody>
      </p:sp>
    </p:spTree>
    <p:extLst>
      <p:ext uri="{BB962C8B-B14F-4D97-AF65-F5344CB8AC3E}">
        <p14:creationId xmlns:p14="http://schemas.microsoft.com/office/powerpoint/2010/main" val="8389929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1CBA17-7BC3-415A-BFA7-28733FB2643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리바운드는 강점, 효율과 공격 연결은 보완 과제</a:t>
            </a:r>
          </a:p>
        </p:txBody>
      </p:sp>
      <p:sp>
        <p:nvSpPr>
          <p:cNvPr id="2" name="">
            <a:extLst xmlns:a="http://schemas.openxmlformats.org/drawingml/2006/main">
              <a:ext uri="{FF2B5EF4-FFF2-40B4-BE49-F238E27FC236}">
                <a16:creationId xmlns:a16="http://schemas.microsoft.com/office/drawing/2014/main" id="{831B7168-C213-409E-B4AA-6828B8DF809C}"/>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200분 이상 외국인 36명 내 축소 추정 백분위. 백분위는 실제 성공률과 다름.</a:t>
            </a:r>
          </a:p>
        </p:txBody>
      </p:sp>
      <p:sp>
        <p:nvSpPr>
          <p:cNvPr id="3" name="">
            <a:extLst xmlns:a="http://schemas.openxmlformats.org/drawingml/2006/main">
              <a:ext uri="{FF2B5EF4-FFF2-40B4-BE49-F238E27FC236}">
                <a16:creationId xmlns:a16="http://schemas.microsoft.com/office/drawing/2014/main" id="{CB4996CF-1EB6-4A6A-A9DF-4BBD48BE41A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04</a:t>
            </a:r>
          </a:p>
        </p:txBody>
      </p:sp>
      <p:graphicFrame>
        <p:nvGraphicFramePr>
          <p:cNvPr id="4" name="Chart">
            <a:extLst xmlns:a="http://schemas.openxmlformats.org/drawingml/2006/main">
              <a:ext uri="{FF2B5EF4-FFF2-40B4-BE49-F238E27FC236}">
                <a16:creationId xmlns:a16="http://schemas.microsoft.com/office/drawing/2014/main" id="{0BFBA34F-74CC-4CF8-8B27-C3D52B5ADDF5}"/>
              </a:ext>
            </a:extLst>
          </p:cNvPr>
          <p:cNvGraphicFramePr/>
          <p:nvPr/>
        </p:nvGraphicFramePr>
        <p:xfrm>
          <a:off xmlns:a="http://schemas.openxmlformats.org/drawingml/2006/main" x="609600" y="1428750"/>
          <a:ext xmlns:a="http://schemas.openxmlformats.org/drawingml/2006/main" cx="10668000" cy="3476625"/>
        </p:xfrm>
        <a:graphic xmlns:a="http://schemas.openxmlformats.org/drawingml/2006/main">
          <a:graphicData uri="http://schemas.openxmlformats.org/drawingml/2006/chart">
            <c:chart xmlns:r="http://schemas.openxmlformats.org/officeDocument/2006/relationships" xmlns:c="http://schemas.openxmlformats.org/drawingml/2006/chart" r:id="Rd31984ed377b44ba"/>
          </a:graphicData>
        </a:graphic>
      </p:graphicFrame>
      <p:sp>
        <p:nvSpPr>
          <p:cNvPr id="5" name="">
            <a:extLst xmlns:a="http://schemas.openxmlformats.org/drawingml/2006/main">
              <a:ext uri="{FF2B5EF4-FFF2-40B4-BE49-F238E27FC236}">
                <a16:creationId xmlns:a16="http://schemas.microsoft.com/office/drawing/2014/main" id="{EA507FF2-BC54-4A2F-92D4-1DC3B1452C77}"/>
              </a:ext>
            </a:extLst>
          </p:cNvPr>
          <p:cNvSpPr>
            <a:spLocks xmlns:a="http://schemas.openxmlformats.org/drawingml/2006/main" noGrp="1"/>
          </p:cNvSpPr>
          <p:nvPr/>
        </p:nvSpPr>
        <p:spPr>
          <a:xfrm xmlns:a="http://schemas.openxmlformats.org/drawingml/2006/main">
            <a:off x="609600" y="5153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defRPr>
            </a:defPPr>
          </a:lstStyle>
          <a:p xmlns:a="http://schemas.openxmlformats.org/drawingml/2006/main">
            <a:pPr>
              <a:defRPr sz="2325" b="1">
                <a:solidFill>
                  <a:srgbClr val="176A80"/>
                </a:solidFill>
              </a:defRPr>
            </a:pPr>
            <a:r>
              <a:rPr sz="2325" b="1">
                <a:solidFill>
                  <a:srgbClr val="176A80"/>
                </a:solidFill>
              </a:rPr>
              <a:t>검토 가설: 효율과 패스, 외곽 생산을 갖춘 빅맨</a:t>
            </a:r>
          </a:p>
        </p:txBody>
      </p:sp>
      <p:sp>
        <p:nvSpPr>
          <p:cNvPr id="6" name="">
            <a:extLst xmlns:a="http://schemas.openxmlformats.org/drawingml/2006/main">
              <a:ext uri="{FF2B5EF4-FFF2-40B4-BE49-F238E27FC236}">
                <a16:creationId xmlns:a16="http://schemas.microsoft.com/office/drawing/2014/main" id="{1158F06A-38DC-419F-86B1-66221ED8BDB8}"/>
              </a:ext>
            </a:extLst>
          </p:cNvPr>
          <p:cNvSpPr>
            <a:spLocks xmlns:a="http://schemas.openxmlformats.org/drawingml/2006/main" noGrp="1"/>
          </p:cNvSpPr>
          <p:nvPr/>
        </p:nvSpPr>
        <p:spPr>
          <a:xfrm xmlns:a="http://schemas.openxmlformats.org/drawingml/2006/main">
            <a:off x="609600" y="5724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defRPr>
            </a:defPPr>
          </a:lstStyle>
          <a:p xmlns:a="http://schemas.openxmlformats.org/drawingml/2006/main">
            <a:pPr>
              <a:defRPr sz="1875" b="0">
                <a:solidFill>
                  <a:srgbClr val="182C3A"/>
                </a:solidFill>
              </a:defRPr>
            </a:pPr>
            <a:r>
              <a:rPr sz="1875" b="0">
                <a:solidFill>
                  <a:srgbClr val="182C3A"/>
                </a:solidFill>
              </a:rPr>
              <a:t>실제 공간 창출과 수비 적합성은 영상으로 확인 필요</a:t>
            </a:r>
          </a:p>
        </p:txBody>
      </p:sp>
    </p:spTree>
    <p:extLst>
      <p:ext uri="{BB962C8B-B14F-4D97-AF65-F5344CB8AC3E}">
        <p14:creationId xmlns:p14="http://schemas.microsoft.com/office/powerpoint/2010/main" val="168768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23ACF9-4B1F-459C-AEEE-F9F5C573CCE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후보 평가 기준</a:t>
            </a:r>
          </a:p>
        </p:txBody>
      </p:sp>
      <p:sp>
        <p:nvSpPr>
          <p:cNvPr id="2" name="">
            <a:extLst xmlns:a="http://schemas.openxmlformats.org/drawingml/2006/main">
              <a:ext uri="{FF2B5EF4-FFF2-40B4-BE49-F238E27FC236}">
                <a16:creationId xmlns:a16="http://schemas.microsoft.com/office/drawing/2014/main" id="{AF5C858A-03CE-45F2-987C-DB22724F8704}"/>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분석자가 정한 정책 점수. 개인 기록의 보완 가능성을 평가하며 실제 조합 효과는 검증하지 않음.</a:t>
            </a:r>
          </a:p>
        </p:txBody>
      </p:sp>
      <p:sp>
        <p:nvSpPr>
          <p:cNvPr id="3" name="">
            <a:extLst xmlns:a="http://schemas.openxmlformats.org/drawingml/2006/main">
              <a:ext uri="{FF2B5EF4-FFF2-40B4-BE49-F238E27FC236}">
                <a16:creationId xmlns:a16="http://schemas.microsoft.com/office/drawing/2014/main" id="{75124274-D147-4C0E-8817-CB7FB7542179}"/>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05</a:t>
            </a:r>
          </a:p>
        </p:txBody>
      </p:sp>
      <p:sp>
        <p:nvSpPr>
          <p:cNvPr id="4" name="">
            <a:extLst xmlns:a="http://schemas.openxmlformats.org/drawingml/2006/main">
              <a:ext uri="{FF2B5EF4-FFF2-40B4-BE49-F238E27FC236}">
                <a16:creationId xmlns:a16="http://schemas.microsoft.com/office/drawing/2014/main" id="{644B4782-17C0-41E3-B8BD-FE922A2296D5}"/>
              </a:ext>
            </a:extLst>
          </p:cNvPr>
          <p:cNvSpPr>
            <a:spLocks xmlns:a="http://schemas.openxmlformats.org/drawingml/2006/main" noGrp="1"/>
          </p:cNvSpPr>
          <p:nvPr/>
        </p:nvSpPr>
        <p:spPr>
          <a:xfrm xmlns:a="http://schemas.openxmlformats.org/drawingml/2006/main">
            <a:off x="609600" y="15240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6A80"/>
                </a:solidFill>
              </a:defRPr>
            </a:defPPr>
          </a:lstStyle>
          <a:p xmlns:a="http://schemas.openxmlformats.org/drawingml/2006/main">
            <a:pPr>
              <a:defRPr sz="3300" b="1">
                <a:solidFill>
                  <a:srgbClr val="176A80"/>
                </a:solidFill>
              </a:defRPr>
            </a:pPr>
            <a:r>
              <a:rPr sz="3300" b="1">
                <a:solidFill>
                  <a:srgbClr val="176A80"/>
                </a:solidFill>
              </a:rPr>
              <a:t>기본 기여 60% + 맥컬러 보완 40%</a:t>
            </a:r>
          </a:p>
        </p:txBody>
      </p:sp>
      <p:sp>
        <p:nvSpPr>
          <p:cNvPr id="5" name="">
            <a:extLst xmlns:a="http://schemas.openxmlformats.org/drawingml/2006/main">
              <a:ext uri="{FF2B5EF4-FFF2-40B4-BE49-F238E27FC236}">
                <a16:creationId xmlns:a16="http://schemas.microsoft.com/office/drawing/2014/main" id="{440D5C9B-BCF0-46AD-AD3E-7E856F59DB67}"/>
              </a:ext>
            </a:extLst>
          </p:cNvPr>
          <p:cNvSpPr>
            <a:spLocks xmlns:a="http://schemas.openxmlformats.org/drawingml/2006/main" noGrp="1"/>
          </p:cNvSpPr>
          <p:nvPr/>
        </p:nvSpPr>
        <p:spPr>
          <a:xfrm xmlns:a="http://schemas.openxmlformats.org/drawingml/2006/main">
            <a:off x="609600" y="26670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defRPr>
            </a:defPPr>
          </a:lstStyle>
          <a:p xmlns:a="http://schemas.openxmlformats.org/drawingml/2006/main">
            <a:pPr>
              <a:defRPr sz="2250" b="1">
                <a:solidFill>
                  <a:srgbClr val="182C3A"/>
                </a:solidFill>
              </a:defRPr>
            </a:pPr>
            <a:r>
              <a:rPr sz="2250" b="1">
                <a:solidFill>
                  <a:srgbClr val="182C3A"/>
                </a:solidFill>
              </a:rPr>
              <a:t>기본 기여</a:t>
            </a:r>
          </a:p>
        </p:txBody>
      </p:sp>
      <p:sp>
        <p:nvSpPr>
          <p:cNvPr id="6" name="">
            <a:extLst xmlns:a="http://schemas.openxmlformats.org/drawingml/2006/main">
              <a:ext uri="{FF2B5EF4-FFF2-40B4-BE49-F238E27FC236}">
                <a16:creationId xmlns:a16="http://schemas.microsoft.com/office/drawing/2014/main" id="{A495336E-E0BC-410B-8151-09A2F74B160A}"/>
              </a:ext>
            </a:extLst>
          </p:cNvPr>
          <p:cNvSpPr>
            <a:spLocks xmlns:a="http://schemas.openxmlformats.org/drawingml/2006/main" noGrp="1"/>
          </p:cNvSpPr>
          <p:nvPr/>
        </p:nvSpPr>
        <p:spPr>
          <a:xfrm xmlns:a="http://schemas.openxmlformats.org/drawingml/2006/main">
            <a:off x="609600" y="332422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defRPr>
            </a:defPPr>
          </a:lstStyle>
          <a:p xmlns:a="http://schemas.openxmlformats.org/drawingml/2006/main">
            <a:pPr>
              <a:defRPr sz="2100" b="0">
                <a:solidFill>
                  <a:srgbClr val="182C3A"/>
                </a:solidFill>
              </a:defRPr>
            </a:pPr>
            <a:r>
              <a:rPr sz="2100" b="0">
                <a:solidFill>
                  <a:srgbClr val="182C3A"/>
                </a:solidFill>
              </a:rPr>
              <a:t>효율 35% / 득점 20%</a:t>
            </a:r>
          </a:p>
          <a:p xmlns:a="http://schemas.openxmlformats.org/drawingml/2006/main">
            <a:pPr>
              <a:defRPr sz="2100" b="0">
                <a:solidFill>
                  <a:srgbClr val="182C3A"/>
                </a:solidFill>
              </a:defRPr>
            </a:pPr>
            <a:r>
              <a:rPr sz="2100" b="0">
                <a:solidFill>
                  <a:srgbClr val="182C3A"/>
                </a:solidFill>
              </a:rPr>
              <a:t>리바운드 25% / AST/TOV 20%</a:t>
            </a:r>
          </a:p>
        </p:txBody>
      </p:sp>
      <p:sp>
        <p:nvSpPr>
          <p:cNvPr id="7" name="">
            <a:extLst xmlns:a="http://schemas.openxmlformats.org/drawingml/2006/main">
              <a:ext uri="{FF2B5EF4-FFF2-40B4-BE49-F238E27FC236}">
                <a16:creationId xmlns:a16="http://schemas.microsoft.com/office/drawing/2014/main" id="{21AE0FDD-EF34-4E4A-9611-DDC5E09915E1}"/>
              </a:ext>
            </a:extLst>
          </p:cNvPr>
          <p:cNvSpPr>
            <a:spLocks xmlns:a="http://schemas.openxmlformats.org/drawingml/2006/main" noGrp="1"/>
          </p:cNvSpPr>
          <p:nvPr/>
        </p:nvSpPr>
        <p:spPr>
          <a:xfrm xmlns:a="http://schemas.openxmlformats.org/drawingml/2006/main">
            <a:off x="6667500" y="2667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defRPr>
            </a:defPPr>
          </a:lstStyle>
          <a:p xmlns:a="http://schemas.openxmlformats.org/drawingml/2006/main">
            <a:pPr>
              <a:defRPr sz="2250" b="1">
                <a:solidFill>
                  <a:srgbClr val="182C3A"/>
                </a:solidFill>
              </a:defRPr>
            </a:pPr>
            <a:r>
              <a:rPr sz="2250" b="1">
                <a:solidFill>
                  <a:srgbClr val="182C3A"/>
                </a:solidFill>
              </a:rPr>
              <a:t>맥컬러 보완</a:t>
            </a:r>
          </a:p>
        </p:txBody>
      </p:sp>
      <p:sp>
        <p:nvSpPr>
          <p:cNvPr id="8" name="">
            <a:extLst xmlns:a="http://schemas.openxmlformats.org/drawingml/2006/main">
              <a:ext uri="{FF2B5EF4-FFF2-40B4-BE49-F238E27FC236}">
                <a16:creationId xmlns:a16="http://schemas.microsoft.com/office/drawing/2014/main" id="{BA690849-AC60-4D14-B103-D74706D90F00}"/>
              </a:ext>
            </a:extLst>
          </p:cNvPr>
          <p:cNvSpPr>
            <a:spLocks xmlns:a="http://schemas.openxmlformats.org/drawingml/2006/main" noGrp="1"/>
          </p:cNvSpPr>
          <p:nvPr/>
        </p:nvSpPr>
        <p:spPr>
          <a:xfrm xmlns:a="http://schemas.openxmlformats.org/drawingml/2006/main">
            <a:off x="6667500" y="33242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3A"/>
                </a:solidFill>
              </a:defRPr>
            </a:defPPr>
          </a:lstStyle>
          <a:p xmlns:a="http://schemas.openxmlformats.org/drawingml/2006/main">
            <a:pPr>
              <a:defRPr sz="1950" b="0">
                <a:solidFill>
                  <a:srgbClr val="182C3A"/>
                </a:solidFill>
              </a:defRPr>
            </a:pPr>
            <a:r>
              <a:rPr sz="1950" b="0">
                <a:solidFill>
                  <a:srgbClr val="182C3A"/>
                </a:solidFill>
              </a:rPr>
              <a:t>효율 40.0% / AST/TOV 37.1%</a:t>
            </a:r>
          </a:p>
          <a:p xmlns:a="http://schemas.openxmlformats.org/drawingml/2006/main">
            <a:pPr>
              <a:defRPr sz="1950" b="0">
                <a:solidFill>
                  <a:srgbClr val="182C3A"/>
                </a:solidFill>
              </a:defRPr>
            </a:pPr>
            <a:r>
              <a:rPr sz="1950" b="0">
                <a:solidFill>
                  <a:srgbClr val="182C3A"/>
                </a:solidFill>
              </a:rPr>
              <a:t>외곽 생산 22.9%</a:t>
            </a:r>
          </a:p>
        </p:txBody>
      </p:sp>
      <p:sp>
        <p:nvSpPr>
          <p:cNvPr id="9" name="">
            <a:extLst xmlns:a="http://schemas.openxmlformats.org/drawingml/2006/main">
              <a:ext uri="{FF2B5EF4-FFF2-40B4-BE49-F238E27FC236}">
                <a16:creationId xmlns:a16="http://schemas.microsoft.com/office/drawing/2014/main" id="{B043C520-90E2-41F9-8909-B7CA86E2C431}"/>
              </a:ext>
            </a:extLst>
          </p:cNvPr>
          <p:cNvSpPr>
            <a:spLocks xmlns:a="http://schemas.openxmlformats.org/drawingml/2006/main" noGrp="1"/>
          </p:cNvSpPr>
          <p:nvPr/>
        </p:nvSpPr>
        <p:spPr>
          <a:xfrm xmlns:a="http://schemas.openxmlformats.org/drawingml/2006/main">
            <a:off x="609600" y="4810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C3A"/>
                </a:solidFill>
              </a:defRPr>
            </a:defPPr>
          </a:lstStyle>
          <a:p xmlns:a="http://schemas.openxmlformats.org/drawingml/2006/main">
            <a:pPr>
              <a:defRPr sz="2100" b="1">
                <a:solidFill>
                  <a:srgbClr val="182C3A"/>
                </a:solidFill>
              </a:defRPr>
            </a:pPr>
            <a:r>
              <a:rPr sz="2100" b="1">
                <a:solidFill>
                  <a:srgbClr val="182C3A"/>
                </a:solidFill>
              </a:rPr>
              <a:t>전체 비교: 200분 이상 외국인 35명</a:t>
            </a:r>
          </a:p>
        </p:txBody>
      </p:sp>
      <p:sp>
        <p:nvSpPr>
          <p:cNvPr id="10" name="">
            <a:extLst xmlns:a="http://schemas.openxmlformats.org/drawingml/2006/main">
              <a:ext uri="{FF2B5EF4-FFF2-40B4-BE49-F238E27FC236}">
                <a16:creationId xmlns:a16="http://schemas.microsoft.com/office/drawing/2014/main" id="{68AB8CFB-54DC-4A44-95CC-30186D479944}"/>
              </a:ext>
            </a:extLst>
          </p:cNvPr>
          <p:cNvSpPr>
            <a:spLocks xmlns:a="http://schemas.openxmlformats.org/drawingml/2006/main" noGrp="1"/>
          </p:cNvSpPr>
          <p:nvPr/>
        </p:nvSpPr>
        <p:spPr>
          <a:xfrm xmlns:a="http://schemas.openxmlformats.org/drawingml/2006/main">
            <a:off x="609600" y="54102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defRPr>
            </a:defPPr>
          </a:lstStyle>
          <a:p xmlns:a="http://schemas.openxmlformats.org/drawingml/2006/main">
            <a:pPr>
              <a:defRPr sz="1875" b="0">
                <a:solidFill>
                  <a:srgbClr val="182C3A"/>
                </a:solidFill>
              </a:defRPr>
            </a:pPr>
            <a:r>
              <a:rPr sz="1875" b="0">
                <a:solidFill>
                  <a:srgbClr val="182C3A"/>
                </a:solidFill>
              </a:rPr>
              <a:t>빅맨 역할 조건 통과: 23명</a:t>
            </a:r>
          </a:p>
          <a:p xmlns:a="http://schemas.openxmlformats.org/drawingml/2006/main">
            <a:pPr>
              <a:defRPr sz="1875" b="0">
                <a:solidFill>
                  <a:srgbClr val="182C3A"/>
                </a:solidFill>
              </a:defRPr>
            </a:pPr>
            <a:r>
              <a:rPr sz="1875" b="0">
                <a:solidFill>
                  <a:srgbClr val="182C3A"/>
                </a:solidFill>
              </a:rPr>
              <a:t>400분 이상, 198cm 이상, 축소 리바운드/36분 8개 이상</a:t>
            </a:r>
          </a:p>
        </p:txBody>
      </p:sp>
    </p:spTree>
    <p:extLst>
      <p:ext uri="{BB962C8B-B14F-4D97-AF65-F5344CB8AC3E}">
        <p14:creationId xmlns:p14="http://schemas.microsoft.com/office/powerpoint/2010/main" val="2100851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816741-BE8D-4729-8A6B-7BFDF4F8D79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빅맨 역할 조건 내 우선 검토 후보</a:t>
            </a:r>
          </a:p>
        </p:txBody>
      </p:sp>
      <p:sp>
        <p:nvSpPr>
          <p:cNvPr id="2" name="">
            <a:extLst xmlns:a="http://schemas.openxmlformats.org/drawingml/2006/main">
              <a:ext uri="{FF2B5EF4-FFF2-40B4-BE49-F238E27FC236}">
                <a16:creationId xmlns:a16="http://schemas.microsoft.com/office/drawing/2014/main" id="{4F53D629-CFFD-47C3-9135-D3EB709A7B35}"/>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점수는 60/40 정책 기준. TS와 3점은 실측 기록. 계약 가능성과 수비 적합성은 별도 확인 필요.</a:t>
            </a:r>
          </a:p>
        </p:txBody>
      </p:sp>
      <p:sp>
        <p:nvSpPr>
          <p:cNvPr id="3" name="">
            <a:extLst xmlns:a="http://schemas.openxmlformats.org/drawingml/2006/main">
              <a:ext uri="{FF2B5EF4-FFF2-40B4-BE49-F238E27FC236}">
                <a16:creationId xmlns:a16="http://schemas.microsoft.com/office/drawing/2014/main" id="{D4A600EC-A37F-4A40-974B-A91396A22CFD}"/>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06</a:t>
            </a:r>
          </a:p>
        </p:txBody>
      </p:sp>
      <p:graphicFrame>
        <p:nvGraphicFramePr>
          <p:cNvPr id="4" name="">
            <a:extLst xmlns:a="http://schemas.openxmlformats.org/drawingml/2006/main">
              <a:ext uri="{FF2B5EF4-FFF2-40B4-BE49-F238E27FC236}">
                <a16:creationId xmlns:a16="http://schemas.microsoft.com/office/drawing/2014/main" id="{D49E3F0D-0804-43BF-985B-07E03FA6B839}"/>
              </a:ext>
            </a:extLst>
          </p:cNvPr>
          <p:cNvGraphicFramePr/>
          <p:nvPr/>
        </p:nvGraphicFramePr>
        <p:xfrm>
          <a:off xmlns:a="http://schemas.openxmlformats.org/drawingml/2006/main" x="609600" y="1562100"/>
          <a:ext xmlns:a="http://schemas.openxmlformats.org/drawingml/2006/main" cx="10972800" cy="2857500"/>
        </p:xfrm>
        <a:graphic xmlns:a="http://schemas.openxmlformats.org/drawingml/2006/main">
          <a:graphicData uri="http://schemas.openxmlformats.org/drawingml/2006/table">
            <a:tbl>
              <a:tblPr/>
              <a:tblGrid>
                <a:gridCol w="2524125"/>
                <a:gridCol w="952500"/>
                <a:gridCol w="1095375"/>
                <a:gridCol w="2000250"/>
                <a:gridCol w="4400550"/>
              </a:tblGrid>
              <a:tr h="714375">
                <a:tc>
                  <a:txBody>
                    <a:bodyPr/>
                    <a:lstStyle/>
                    <a:p>
                      <a:r>
                        <a:rPr sz="1875" b="1">
                          <a:solidFill>
                            <a:srgbClr val="FFFFFF"/>
                          </a:solidFill>
                        </a:rPr>
                        <a:t>후보</a:t>
                      </a:r>
                    </a:p>
                  </a:txBody>
                  <a:tcPr marL="152400" marR="114300" marT="123825" marB="95250">
                    <a:solidFill>
                      <a:srgbClr val="176A80"/>
                    </a:solidFill>
                  </a:tcPr>
                </a:tc>
                <a:tc>
                  <a:txBody>
                    <a:bodyPr/>
                    <a:lstStyle/>
                    <a:p>
                      <a:r>
                        <a:rPr sz="1875" b="1">
                          <a:solidFill>
                            <a:srgbClr val="FFFFFF"/>
                          </a:solidFill>
                        </a:rPr>
                        <a:t>점수</a:t>
                      </a:r>
                    </a:p>
                  </a:txBody>
                  <a:tcPr marL="152400" marR="114300" marT="123825" marB="95250">
                    <a:solidFill>
                      <a:srgbClr val="176A80"/>
                    </a:solidFill>
                  </a:tcPr>
                </a:tc>
                <a:tc>
                  <a:txBody>
                    <a:bodyPr/>
                    <a:lstStyle/>
                    <a:p>
                      <a:r>
                        <a:rPr sz="1875" b="1">
                          <a:solidFill>
                            <a:srgbClr val="FFFFFF"/>
                          </a:solidFill>
                        </a:rPr>
                        <a:t>TS</a:t>
                      </a:r>
                    </a:p>
                  </a:txBody>
                  <a:tcPr marL="152400" marR="114300" marT="123825" marB="95250">
                    <a:solidFill>
                      <a:srgbClr val="176A80"/>
                    </a:solidFill>
                  </a:tcPr>
                </a:tc>
                <a:tc>
                  <a:txBody>
                    <a:bodyPr/>
                    <a:lstStyle/>
                    <a:p>
                      <a:r>
                        <a:rPr sz="1875" b="1">
                          <a:solidFill>
                            <a:srgbClr val="FFFFFF"/>
                          </a:solidFill>
                        </a:rPr>
                        <a:t>3점 성공/시도</a:t>
                      </a:r>
                    </a:p>
                  </a:txBody>
                  <a:tcPr marL="152400" marR="114300" marT="123825" marB="95250">
                    <a:solidFill>
                      <a:srgbClr val="176A80"/>
                    </a:solidFill>
                  </a:tcPr>
                </a:tc>
                <a:tc>
                  <a:txBody>
                    <a:bodyPr/>
                    <a:lstStyle/>
                    <a:p>
                      <a:r>
                        <a:rPr sz="1875" b="1">
                          <a:solidFill>
                            <a:srgbClr val="FFFFFF"/>
                          </a:solidFill>
                        </a:rPr>
                        <a:t>검토 이유</a:t>
                      </a:r>
                    </a:p>
                  </a:txBody>
                  <a:tcPr marL="152400" marR="114300" marT="123825" marB="95250">
                    <a:solidFill>
                      <a:srgbClr val="176A80"/>
                    </a:solidFill>
                  </a:tcPr>
                </a:tc>
              </a:tr>
              <a:tr h="714375">
                <a:tc>
                  <a:txBody>
                    <a:bodyPr/>
                    <a:lstStyle/>
                    <a:p>
                      <a:r>
                        <a:rPr sz="1875" b="0">
                          <a:solidFill>
                            <a:srgbClr val="182C3A"/>
                          </a:solidFill>
                        </a:rPr>
                        <a:t>Drew Pember</a:t>
                      </a:r>
                    </a:p>
                  </a:txBody>
                  <a:tcPr marL="152400" marR="114300" marT="123825" marB="95250">
                    <a:solidFill>
                      <a:srgbClr val="FFFFFF"/>
                    </a:solidFill>
                  </a:tcPr>
                </a:tc>
                <a:tc>
                  <a:txBody>
                    <a:bodyPr/>
                    <a:lstStyle/>
                    <a:p>
                      <a:r>
                        <a:rPr sz="1875" b="0">
                          <a:solidFill>
                            <a:srgbClr val="182C3A"/>
                          </a:solidFill>
                        </a:rPr>
                        <a:t>82.0</a:t>
                      </a:r>
                    </a:p>
                  </a:txBody>
                  <a:tcPr marL="152400" marR="114300" marT="123825" marB="95250">
                    <a:solidFill>
                      <a:srgbClr val="FFFFFF"/>
                    </a:solidFill>
                  </a:tcPr>
                </a:tc>
                <a:tc>
                  <a:txBody>
                    <a:bodyPr/>
                    <a:lstStyle/>
                    <a:p>
                      <a:r>
                        <a:rPr sz="1875" b="0">
                          <a:solidFill>
                            <a:srgbClr val="182C3A"/>
                          </a:solidFill>
                        </a:rPr>
                        <a:t>64.2%</a:t>
                      </a:r>
                    </a:p>
                  </a:txBody>
                  <a:tcPr marL="152400" marR="114300" marT="123825" marB="95250">
                    <a:solidFill>
                      <a:srgbClr val="FFFFFF"/>
                    </a:solidFill>
                  </a:tcPr>
                </a:tc>
                <a:tc>
                  <a:txBody>
                    <a:bodyPr/>
                    <a:lstStyle/>
                    <a:p>
                      <a:r>
                        <a:rPr sz="1875" b="0">
                          <a:solidFill>
                            <a:srgbClr val="182C3A"/>
                          </a:solidFill>
                        </a:rPr>
                        <a:t>63/195</a:t>
                      </a:r>
                    </a:p>
                  </a:txBody>
                  <a:tcPr marL="152400" marR="114300" marT="123825" marB="95250">
                    <a:solidFill>
                      <a:srgbClr val="FFFFFF"/>
                    </a:solidFill>
                  </a:tcPr>
                </a:tc>
                <a:tc>
                  <a:txBody>
                    <a:bodyPr/>
                    <a:lstStyle/>
                    <a:p>
                      <a:r>
                        <a:rPr sz="1875" b="0">
                          <a:solidFill>
                            <a:srgbClr val="182C3A"/>
                          </a:solidFill>
                        </a:rPr>
                        <a:t>효율과 외곽 생산,</a:t>
                      </a:r>
                    </a:p>
                    <a:p>
                      <a:r>
                        <a:rPr sz="1875" b="0">
                          <a:solidFill>
                            <a:srgbClr val="182C3A"/>
                          </a:solidFill>
                        </a:rPr>
                        <a:t>볼 연결의 균형</a:t>
                      </a:r>
                    </a:p>
                  </a:txBody>
                  <a:tcPr marL="152400" marR="114300" marT="123825" marB="95250">
                    <a:solidFill>
                      <a:srgbClr val="FFFFFF"/>
                    </a:solidFill>
                  </a:tcPr>
                </a:tc>
              </a:tr>
              <a:tr h="714375">
                <a:tc>
                  <a:txBody>
                    <a:bodyPr/>
                    <a:lstStyle/>
                    <a:p>
                      <a:r>
                        <a:rPr sz="1875" b="0">
                          <a:solidFill>
                            <a:srgbClr val="182C3A"/>
                          </a:solidFill>
                        </a:rPr>
                        <a:t>Trey Thompkins</a:t>
                      </a:r>
                    </a:p>
                    <a:p>
                      <a:r>
                        <a:rPr sz="1875" b="0">
                          <a:solidFill>
                            <a:srgbClr val="182C3A"/>
                          </a:solidFill>
                        </a:rPr>
                        <a:t>III</a:t>
                      </a:r>
                    </a:p>
                  </a:txBody>
                  <a:tcPr marL="152400" marR="114300" marT="123825" marB="95250">
                    <a:solidFill>
                      <a:srgbClr val="F3F6F8"/>
                    </a:solidFill>
                  </a:tcPr>
                </a:tc>
                <a:tc>
                  <a:txBody>
                    <a:bodyPr/>
                    <a:lstStyle/>
                    <a:p>
                      <a:r>
                        <a:rPr sz="1875" b="0">
                          <a:solidFill>
                            <a:srgbClr val="182C3A"/>
                          </a:solidFill>
                        </a:rPr>
                        <a:t>69.6</a:t>
                      </a:r>
                    </a:p>
                  </a:txBody>
                  <a:tcPr marL="152400" marR="114300" marT="123825" marB="95250">
                    <a:solidFill>
                      <a:srgbClr val="F3F6F8"/>
                    </a:solidFill>
                  </a:tcPr>
                </a:tc>
                <a:tc>
                  <a:txBody>
                    <a:bodyPr/>
                    <a:lstStyle/>
                    <a:p>
                      <a:r>
                        <a:rPr sz="1875" b="0">
                          <a:solidFill>
                            <a:srgbClr val="182C3A"/>
                          </a:solidFill>
                        </a:rPr>
                        <a:t>60.0%</a:t>
                      </a:r>
                    </a:p>
                  </a:txBody>
                  <a:tcPr marL="152400" marR="114300" marT="123825" marB="95250">
                    <a:solidFill>
                      <a:srgbClr val="F3F6F8"/>
                    </a:solidFill>
                  </a:tcPr>
                </a:tc>
                <a:tc>
                  <a:txBody>
                    <a:bodyPr/>
                    <a:lstStyle/>
                    <a:p>
                      <a:r>
                        <a:rPr sz="1875" b="0">
                          <a:solidFill>
                            <a:srgbClr val="182C3A"/>
                          </a:solidFill>
                        </a:rPr>
                        <a:t>45/125</a:t>
                      </a:r>
                    </a:p>
                  </a:txBody>
                  <a:tcPr marL="152400" marR="114300" marT="123825" marB="95250">
                    <a:solidFill>
                      <a:srgbClr val="F3F6F8"/>
                    </a:solidFill>
                  </a:tcPr>
                </a:tc>
                <a:tc>
                  <a:txBody>
                    <a:bodyPr/>
                    <a:lstStyle/>
                    <a:p>
                      <a:r>
                        <a:rPr sz="1875" b="0">
                          <a:solidFill>
                            <a:srgbClr val="182C3A"/>
                          </a:solidFill>
                        </a:rPr>
                        <a:t>외곽과 패스를</a:t>
                      </a:r>
                    </a:p>
                    <a:p>
                      <a:r>
                        <a:rPr sz="1875" b="0">
                          <a:solidFill>
                            <a:srgbClr val="182C3A"/>
                          </a:solidFill>
                        </a:rPr>
                        <a:t>결합한 보완</a:t>
                      </a:r>
                    </a:p>
                  </a:txBody>
                  <a:tcPr marL="152400" marR="114300" marT="123825" marB="95250">
                    <a:solidFill>
                      <a:srgbClr val="F3F6F8"/>
                    </a:solidFill>
                  </a:tcPr>
                </a:tc>
              </a:tr>
              <a:tr h="714375">
                <a:tc>
                  <a:txBody>
                    <a:bodyPr/>
                    <a:lstStyle/>
                    <a:p>
                      <a:r>
                        <a:rPr sz="1875" b="0">
                          <a:solidFill>
                            <a:srgbClr val="182C3A"/>
                          </a:solidFill>
                        </a:rPr>
                        <a:t>Marko Todorovic</a:t>
                      </a:r>
                    </a:p>
                  </a:txBody>
                  <a:tcPr marL="152400" marR="114300" marT="123825" marB="95250">
                    <a:solidFill>
                      <a:srgbClr val="FFFFFF"/>
                    </a:solidFill>
                  </a:tcPr>
                </a:tc>
                <a:tc>
                  <a:txBody>
                    <a:bodyPr/>
                    <a:lstStyle/>
                    <a:p>
                      <a:r>
                        <a:rPr sz="1875" b="0">
                          <a:solidFill>
                            <a:srgbClr val="182C3A"/>
                          </a:solidFill>
                        </a:rPr>
                        <a:t>67.4</a:t>
                      </a:r>
                    </a:p>
                  </a:txBody>
                  <a:tcPr marL="152400" marR="114300" marT="123825" marB="95250">
                    <a:solidFill>
                      <a:srgbClr val="FFFFFF"/>
                    </a:solidFill>
                  </a:tcPr>
                </a:tc>
                <a:tc>
                  <a:txBody>
                    <a:bodyPr/>
                    <a:lstStyle/>
                    <a:p>
                      <a:r>
                        <a:rPr sz="1875" b="0">
                          <a:solidFill>
                            <a:srgbClr val="182C3A"/>
                          </a:solidFill>
                        </a:rPr>
                        <a:t>60.9%</a:t>
                      </a:r>
                    </a:p>
                  </a:txBody>
                  <a:tcPr marL="152400" marR="114300" marT="123825" marB="95250">
                    <a:solidFill>
                      <a:srgbClr val="FFFFFF"/>
                    </a:solidFill>
                  </a:tcPr>
                </a:tc>
                <a:tc>
                  <a:txBody>
                    <a:bodyPr/>
                    <a:lstStyle/>
                    <a:p>
                      <a:r>
                        <a:rPr sz="1875" b="0">
                          <a:solidFill>
                            <a:srgbClr val="182C3A"/>
                          </a:solidFill>
                        </a:rPr>
                        <a:t>36/104</a:t>
                      </a:r>
                    </a:p>
                  </a:txBody>
                  <a:tcPr marL="152400" marR="114300" marT="123825" marB="95250">
                    <a:solidFill>
                      <a:srgbClr val="FFFFFF"/>
                    </a:solidFill>
                  </a:tcPr>
                </a:tc>
                <a:tc>
                  <a:txBody>
                    <a:bodyPr/>
                    <a:lstStyle/>
                    <a:p>
                      <a:r>
                        <a:rPr sz="1875" b="0">
                          <a:solidFill>
                            <a:srgbClr val="182C3A"/>
                          </a:solidFill>
                        </a:rPr>
                        <a:t>득점과 리바운드</a:t>
                      </a:r>
                    </a:p>
                    <a:p>
                      <a:r>
                        <a:rPr sz="1875" b="0">
                          <a:solidFill>
                            <a:srgbClr val="182C3A"/>
                          </a:solidFill>
                        </a:rPr>
                        <a:t>기반의 기본 기여</a:t>
                      </a:r>
                    </a:p>
                  </a:txBody>
                  <a:tcPr marL="152400" marR="114300" marT="123825"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B2C910F-4463-4BAB-8015-80C6E5AC7873}"/>
              </a:ext>
            </a:extLst>
          </p:cNvPr>
          <p:cNvSpPr>
            <a:spLocks xmlns:a="http://schemas.openxmlformats.org/drawingml/2006/main" noGrp="1"/>
          </p:cNvSpPr>
          <p:nvPr/>
        </p:nvSpPr>
        <p:spPr>
          <a:xfrm xmlns:a="http://schemas.openxmlformats.org/drawingml/2006/main">
            <a:off x="609600" y="47910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A80"/>
                </a:solidFill>
              </a:defRPr>
            </a:defPPr>
          </a:lstStyle>
          <a:p xmlns:a="http://schemas.openxmlformats.org/drawingml/2006/main">
            <a:pPr>
              <a:defRPr sz="2175" b="1">
                <a:solidFill>
                  <a:srgbClr val="176A80"/>
                </a:solidFill>
              </a:defRPr>
            </a:pPr>
            <a:r>
              <a:rPr sz="2175" b="1">
                <a:solidFill>
                  <a:srgbClr val="176A80"/>
                </a:solidFill>
              </a:rPr>
              <a:t>Pember의 경기 재표집 점수 범위: 57.8~86.8점</a:t>
            </a:r>
          </a:p>
        </p:txBody>
      </p:sp>
      <p:sp>
        <p:nvSpPr>
          <p:cNvPr id="6" name="">
            <a:extLst xmlns:a="http://schemas.openxmlformats.org/drawingml/2006/main">
              <a:ext uri="{FF2B5EF4-FFF2-40B4-BE49-F238E27FC236}">
                <a16:creationId xmlns:a16="http://schemas.microsoft.com/office/drawing/2014/main" id="{FC44C459-5F8E-4FEA-A995-486481973834}"/>
              </a:ext>
            </a:extLst>
          </p:cNvPr>
          <p:cNvSpPr>
            <a:spLocks xmlns:a="http://schemas.openxmlformats.org/drawingml/2006/main" noGrp="1"/>
          </p:cNvSpPr>
          <p:nvPr/>
        </p:nvSpPr>
        <p:spPr>
          <a:xfrm xmlns:a="http://schemas.openxmlformats.org/drawingml/2006/main">
            <a:off x="60960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defRPr>
            </a:defPPr>
          </a:lstStyle>
          <a:p xmlns:a="http://schemas.openxmlformats.org/drawingml/2006/main">
            <a:pPr>
              <a:defRPr sz="1875" b="0">
                <a:solidFill>
                  <a:srgbClr val="182C3A"/>
                </a:solidFill>
              </a:defRPr>
            </a:pPr>
            <a:r>
              <a:rPr sz="1875" b="0">
                <a:solidFill>
                  <a:srgbClr val="182C3A"/>
                </a:solidFill>
              </a:rPr>
              <a:t>후보 간 점수 구간이 크게 겹치므로 확정적인 우열 판단은 어려움</a:t>
            </a:r>
          </a:p>
        </p:txBody>
      </p:sp>
      <p:sp>
        <p:nvSpPr>
          <p:cNvPr id="7" name="">
            <a:extLst xmlns:a="http://schemas.openxmlformats.org/drawingml/2006/main">
              <a:ext uri="{FF2B5EF4-FFF2-40B4-BE49-F238E27FC236}">
                <a16:creationId xmlns:a16="http://schemas.microsoft.com/office/drawing/2014/main" id="{0F7D48A9-9BC4-4034-B86B-6D7C351924A5}"/>
              </a:ext>
            </a:extLst>
          </p:cNvPr>
          <p:cNvSpPr>
            <a:spLocks xmlns:a="http://schemas.openxmlformats.org/drawingml/2006/main" noGrp="1"/>
          </p:cNvSpPr>
          <p:nvPr/>
        </p:nvSpPr>
        <p:spPr>
          <a:xfrm xmlns:a="http://schemas.openxmlformats.org/drawingml/2006/main">
            <a:off x="609600" y="5829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976"/>
                </a:solidFill>
              </a:defRPr>
            </a:defPPr>
          </a:lstStyle>
          <a:p xmlns:a="http://schemas.openxmlformats.org/drawingml/2006/main">
            <a:pPr>
              <a:defRPr sz="1725" b="0">
                <a:solidFill>
                  <a:srgbClr val="586976"/>
                </a:solidFill>
              </a:defRPr>
            </a:pPr>
            <a:r>
              <a:rPr sz="1725" b="0">
                <a:solidFill>
                  <a:srgbClr val="586976"/>
                </a:solidFill>
              </a:rPr>
              <a:t>전체 2위 Jalen Harris는 가드로 빅맨 후보와 구분</a:t>
            </a:r>
          </a:p>
        </p:txBody>
      </p:sp>
    </p:spTree>
    <p:extLst>
      <p:ext uri="{BB962C8B-B14F-4D97-AF65-F5344CB8AC3E}">
        <p14:creationId xmlns:p14="http://schemas.microsoft.com/office/powerpoint/2010/main" val="20265631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A5D9DE-8B17-405F-B3F9-0E14EAD988F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보완 유형과 후보를 제시했으며 실제 궁합은 미검증</a:t>
            </a:r>
          </a:p>
        </p:txBody>
      </p:sp>
      <p:sp>
        <p:nvSpPr>
          <p:cNvPr id="2" name="">
            <a:extLst xmlns:a="http://schemas.openxmlformats.org/drawingml/2006/main">
              <a:ext uri="{FF2B5EF4-FFF2-40B4-BE49-F238E27FC236}">
                <a16:creationId xmlns:a16="http://schemas.microsoft.com/office/drawing/2014/main" id="{46BC2587-A338-496C-BDC5-F0253B030592}"/>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24경기 표본, 짧은 구간의 36분 환산 목표, 재사용 평가 자료가 일반화 판단을 제한함.</a:t>
            </a:r>
          </a:p>
        </p:txBody>
      </p:sp>
      <p:sp>
        <p:nvSpPr>
          <p:cNvPr id="3" name="">
            <a:extLst xmlns:a="http://schemas.openxmlformats.org/drawingml/2006/main">
              <a:ext uri="{FF2B5EF4-FFF2-40B4-BE49-F238E27FC236}">
                <a16:creationId xmlns:a16="http://schemas.microsoft.com/office/drawing/2014/main" id="{ED023595-57BC-4FD3-AABD-35A350AAD437}"/>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07</a:t>
            </a:r>
          </a:p>
        </p:txBody>
      </p:sp>
      <p:sp>
        <p:nvSpPr>
          <p:cNvPr id="4" name="">
            <a:extLst xmlns:a="http://schemas.openxmlformats.org/drawingml/2006/main">
              <a:ext uri="{FF2B5EF4-FFF2-40B4-BE49-F238E27FC236}">
                <a16:creationId xmlns:a16="http://schemas.microsoft.com/office/drawing/2014/main" id="{F27A07D5-645B-45A6-839C-3BC6DF13F042}"/>
              </a:ext>
            </a:extLst>
          </p:cNvPr>
          <p:cNvSpPr>
            <a:spLocks xmlns:a="http://schemas.openxmlformats.org/drawingml/2006/main" noGrp="1"/>
          </p:cNvSpPr>
          <p:nvPr/>
        </p:nvSpPr>
        <p:spPr>
          <a:xfrm xmlns:a="http://schemas.openxmlformats.org/drawingml/2006/main">
            <a:off x="60960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defRPr>
            </a:defPPr>
          </a:lstStyle>
          <a:p xmlns:a="http://schemas.openxmlformats.org/drawingml/2006/main">
            <a:pPr>
              <a:defRPr sz="2400" b="1">
                <a:solidFill>
                  <a:srgbClr val="176A80"/>
                </a:solidFill>
              </a:defRPr>
            </a:pPr>
            <a:r>
              <a:rPr sz="2400" b="1">
                <a:solidFill>
                  <a:srgbClr val="176A80"/>
                </a:solidFill>
              </a:rPr>
              <a:t>현재 확보한 결과</a:t>
            </a:r>
          </a:p>
        </p:txBody>
      </p:sp>
      <p:sp>
        <p:nvSpPr>
          <p:cNvPr id="5" name="">
            <a:extLst xmlns:a="http://schemas.openxmlformats.org/drawingml/2006/main">
              <a:ext uri="{FF2B5EF4-FFF2-40B4-BE49-F238E27FC236}">
                <a16:creationId xmlns:a16="http://schemas.microsoft.com/office/drawing/2014/main" id="{9E6DDD62-3EA5-4FB4-9339-D733ACC2DFFE}"/>
              </a:ext>
            </a:extLst>
          </p:cNvPr>
          <p:cNvSpPr>
            <a:spLocks xmlns:a="http://schemas.openxmlformats.org/drawingml/2006/main" noGrp="1"/>
          </p:cNvSpPr>
          <p:nvPr/>
        </p:nvSpPr>
        <p:spPr>
          <a:xfrm xmlns:a="http://schemas.openxmlformats.org/drawingml/2006/main">
            <a:off x="609600" y="23336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C3A"/>
                </a:solidFill>
              </a:defRPr>
            </a:defPPr>
          </a:lstStyle>
          <a:p xmlns:a="http://schemas.openxmlformats.org/drawingml/2006/main">
            <a:pPr>
              <a:defRPr sz="2325" b="0">
                <a:solidFill>
                  <a:srgbClr val="182C3A"/>
                </a:solidFill>
              </a:defRPr>
            </a:pPr>
            <a:r>
              <a:rPr sz="2325" b="0">
                <a:solidFill>
                  <a:srgbClr val="182C3A"/>
                </a:solidFill>
              </a:rPr>
              <a:t>맥컬러의 보완 역할 구체화</a:t>
            </a:r>
          </a:p>
          <a:p xmlns:a="http://schemas.openxmlformats.org/drawingml/2006/main">
            <a:pPr>
              <a:defRPr sz="2325" b="0">
                <a:solidFill>
                  <a:srgbClr val="182C3A"/>
                </a:solidFill>
              </a:defRPr>
            </a:pPr>
            <a:r>
              <a:rPr sz="2325" b="0">
                <a:solidFill>
                  <a:srgbClr val="182C3A"/>
                </a:solidFill>
              </a:rPr>
              <a:t>일관된 평가 기준으로 후보 검토 순서 제시</a:t>
            </a:r>
          </a:p>
        </p:txBody>
      </p:sp>
      <p:sp>
        <p:nvSpPr>
          <p:cNvPr id="6" name="">
            <a:extLst xmlns:a="http://schemas.openxmlformats.org/drawingml/2006/main">
              <a:ext uri="{FF2B5EF4-FFF2-40B4-BE49-F238E27FC236}">
                <a16:creationId xmlns:a16="http://schemas.microsoft.com/office/drawing/2014/main" id="{83477127-7CEA-43C6-A9CB-840111D8B092}"/>
              </a:ext>
            </a:extLst>
          </p:cNvPr>
          <p:cNvSpPr>
            <a:spLocks xmlns:a="http://schemas.openxmlformats.org/drawingml/2006/main" noGrp="1"/>
          </p:cNvSpPr>
          <p:nvPr/>
        </p:nvSpPr>
        <p:spPr>
          <a:xfrm xmlns:a="http://schemas.openxmlformats.org/drawingml/2006/main">
            <a:off x="609600" y="37242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defRPr>
            </a:defPPr>
          </a:lstStyle>
          <a:p xmlns:a="http://schemas.openxmlformats.org/drawingml/2006/main">
            <a:pPr>
              <a:defRPr sz="2400" b="1">
                <a:solidFill>
                  <a:srgbClr val="176A80"/>
                </a:solidFill>
              </a:defRPr>
            </a:pPr>
            <a:r>
              <a:rPr sz="2400" b="1">
                <a:solidFill>
                  <a:srgbClr val="176A80"/>
                </a:solidFill>
              </a:rPr>
              <a:t>실제 조합 판단에 필요한 검증</a:t>
            </a:r>
          </a:p>
        </p:txBody>
      </p:sp>
      <p:sp>
        <p:nvSpPr>
          <p:cNvPr id="7" name="">
            <a:extLst xmlns:a="http://schemas.openxmlformats.org/drawingml/2006/main">
              <a:ext uri="{FF2B5EF4-FFF2-40B4-BE49-F238E27FC236}">
                <a16:creationId xmlns:a16="http://schemas.microsoft.com/office/drawing/2014/main" id="{95E62234-48AD-453B-B691-1438D7D995F9}"/>
              </a:ext>
            </a:extLst>
          </p:cNvPr>
          <p:cNvSpPr>
            <a:spLocks xmlns:a="http://schemas.openxmlformats.org/drawingml/2006/main" noGrp="1"/>
          </p:cNvSpPr>
          <p:nvPr/>
        </p:nvSpPr>
        <p:spPr>
          <a:xfrm xmlns:a="http://schemas.openxmlformats.org/drawingml/2006/main">
            <a:off x="609600" y="4429125"/>
            <a:ext cx="10858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3A"/>
                </a:solidFill>
              </a:defRPr>
            </a:defPPr>
          </a:lstStyle>
          <a:p xmlns:a="http://schemas.openxmlformats.org/drawingml/2006/main">
            <a:pPr>
              <a:defRPr sz="2175" b="0">
                <a:solidFill>
                  <a:srgbClr val="182C3A"/>
                </a:solidFill>
              </a:defRPr>
            </a:pPr>
            <a:r>
              <a:rPr sz="2175" b="0">
                <a:solidFill>
                  <a:srgbClr val="182C3A"/>
                </a:solidFill>
              </a:rPr>
              <a:t>동시 출전과 교대 출전의 라인업 성과</a:t>
            </a:r>
          </a:p>
          <a:p xmlns:a="http://schemas.openxmlformats.org/drawingml/2006/main">
            <a:pPr>
              <a:defRPr sz="2175" b="0">
                <a:solidFill>
                  <a:srgbClr val="182C3A"/>
                </a:solidFill>
              </a:defRPr>
            </a:pPr>
            <a:r>
              <a:rPr sz="2175" b="0">
                <a:solidFill>
                  <a:srgbClr val="182C3A"/>
                </a:solidFill>
              </a:rPr>
              <a:t>스크린과 롤/팝, 수비 매치업 영상</a:t>
            </a:r>
          </a:p>
          <a:p xmlns:a="http://schemas.openxmlformats.org/drawingml/2006/main">
            <a:pPr>
              <a:defRPr sz="2175" b="0">
                <a:solidFill>
                  <a:srgbClr val="182C3A"/>
                </a:solidFill>
              </a:defRPr>
            </a:pPr>
            <a:r>
              <a:rPr sz="2175" b="0">
                <a:solidFill>
                  <a:srgbClr val="182C3A"/>
                </a:solidFill>
              </a:rPr>
              <a:t>개인 능력 기준선 대비 조합 상호작용의 추가 예측력</a:t>
            </a:r>
          </a:p>
        </p:txBody>
      </p:sp>
    </p:spTree>
    <p:extLst>
      <p:ext uri="{BB962C8B-B14F-4D97-AF65-F5344CB8AC3E}">
        <p14:creationId xmlns:p14="http://schemas.microsoft.com/office/powerpoint/2010/main" val="1739928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CA1E8F-B3C7-43C5-847B-4CF3EAC28A4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defRPr>
            </a:defPPr>
          </a:lstStyle>
          <a:p xmlns:a="http://schemas.openxmlformats.org/drawingml/2006/main">
            <a:pPr>
              <a:defRPr sz="3150" b="1">
                <a:solidFill>
                  <a:srgbClr val="182C3A"/>
                </a:solidFill>
              </a:defRPr>
            </a:pPr>
            <a:r>
              <a:rPr sz="3150" b="1">
                <a:solidFill>
                  <a:srgbClr val="182C3A"/>
                </a:solidFill>
              </a:rPr>
              <a:t>부록: MSE와 모델 설정 선택 기준</a:t>
            </a:r>
          </a:p>
        </p:txBody>
      </p:sp>
      <p:sp>
        <p:nvSpPr>
          <p:cNvPr id="2" name="">
            <a:extLst xmlns:a="http://schemas.openxmlformats.org/drawingml/2006/main">
              <a:ext uri="{FF2B5EF4-FFF2-40B4-BE49-F238E27FC236}">
                <a16:creationId xmlns:a16="http://schemas.microsoft.com/office/drawing/2014/main" id="{1A89E44B-808B-41FD-B379-6AF1CDCB0472}"/>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defRPr>
            </a:defPPr>
          </a:lstStyle>
          <a:p xmlns:a="http://schemas.openxmlformats.org/drawingml/2006/main">
            <a:pPr>
              <a:defRPr sz="1275" b="0">
                <a:solidFill>
                  <a:srgbClr val="586976"/>
                </a:solidFill>
              </a:defRPr>
            </a:pPr>
            <a:r>
              <a:rPr sz="1275" b="0">
                <a:solidFill>
                  <a:srgbClr val="586976"/>
                </a:solidFill>
              </a:rPr>
              <a:t>MSE와 RMSE는 모형 검증 지표. 선수 후보 순위는 별도의 60/40 정책 점수로 산출.</a:t>
            </a:r>
          </a:p>
        </p:txBody>
      </p:sp>
      <p:sp>
        <p:nvSpPr>
          <p:cNvPr id="3" name="">
            <a:extLst xmlns:a="http://schemas.openxmlformats.org/drawingml/2006/main">
              <a:ext uri="{FF2B5EF4-FFF2-40B4-BE49-F238E27FC236}">
                <a16:creationId xmlns:a16="http://schemas.microsoft.com/office/drawing/2014/main" id="{3547E3D6-EAD7-48F0-AD56-7B4D4A57F69D}"/>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defRPr>
            </a:defPPr>
          </a:lstStyle>
          <a:p xmlns:a="http://schemas.openxmlformats.org/drawingml/2006/main">
            <a:pPr>
              <a:defRPr sz="1200" b="0">
                <a:solidFill>
                  <a:srgbClr val="586976"/>
                </a:solidFill>
              </a:defRPr>
            </a:pPr>
            <a:r>
              <a:rPr sz="1200" b="0">
                <a:solidFill>
                  <a:srgbClr val="586976"/>
                </a:solidFill>
              </a:rPr>
              <a:t>08</a:t>
            </a:r>
          </a:p>
        </p:txBody>
      </p:sp>
      <p:sp>
        <p:nvSpPr>
          <p:cNvPr id="4" name="">
            <a:extLst xmlns:a="http://schemas.openxmlformats.org/drawingml/2006/main">
              <a:ext uri="{FF2B5EF4-FFF2-40B4-BE49-F238E27FC236}">
                <a16:creationId xmlns:a16="http://schemas.microsoft.com/office/drawing/2014/main" id="{FAC0A937-DB21-4CB8-9A30-5C6CC258BBEF}"/>
              </a:ext>
            </a:extLst>
          </p:cNvPr>
          <p:cNvSpPr>
            <a:spLocks xmlns:a="http://schemas.openxmlformats.org/drawingml/2006/main" noGrp="1"/>
          </p:cNvSpPr>
          <p:nvPr/>
        </p:nvSpPr>
        <p:spPr>
          <a:xfrm xmlns:a="http://schemas.openxmlformats.org/drawingml/2006/main">
            <a:off x="609600" y="1600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defRPr>
            </a:defPPr>
          </a:lstStyle>
          <a:p xmlns:a="http://schemas.openxmlformats.org/drawingml/2006/main">
            <a:pPr>
              <a:defRPr sz="2250" b="1">
                <a:solidFill>
                  <a:srgbClr val="182C3A"/>
                </a:solidFill>
              </a:defRPr>
            </a:pPr>
            <a:r>
              <a:rPr sz="2250" b="1">
                <a:solidFill>
                  <a:srgbClr val="182C3A"/>
                </a:solidFill>
              </a:rPr>
              <a:t>실제값: 구간 팀 순득점 × 36 / 구간 시간(분)</a:t>
            </a:r>
          </a:p>
        </p:txBody>
      </p:sp>
      <p:sp>
        <p:nvSpPr>
          <p:cNvPr id="5" name="">
            <a:extLst xmlns:a="http://schemas.openxmlformats.org/drawingml/2006/main">
              <a:ext uri="{FF2B5EF4-FFF2-40B4-BE49-F238E27FC236}">
                <a16:creationId xmlns:a16="http://schemas.microsoft.com/office/drawing/2014/main" id="{6EDE5E15-1CDA-4E67-B429-053693FD5246}"/>
              </a:ext>
            </a:extLst>
          </p:cNvPr>
          <p:cNvSpPr>
            <a:spLocks xmlns:a="http://schemas.openxmlformats.org/drawingml/2006/main" noGrp="1"/>
          </p:cNvSpPr>
          <p:nvPr/>
        </p:nvSpPr>
        <p:spPr>
          <a:xfrm xmlns:a="http://schemas.openxmlformats.org/drawingml/2006/main">
            <a:off x="609600" y="2667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defRPr>
            </a:defPPr>
          </a:lstStyle>
          <a:p xmlns:a="http://schemas.openxmlformats.org/drawingml/2006/main">
            <a:pPr>
              <a:defRPr sz="2325" b="1">
                <a:solidFill>
                  <a:srgbClr val="176A80"/>
                </a:solidFill>
              </a:defRPr>
            </a:pPr>
            <a:r>
              <a:rPr sz="2325" b="1">
                <a:solidFill>
                  <a:srgbClr val="176A80"/>
                </a:solidFill>
              </a:rPr>
              <a:t>MSE = Σ[출전시간 × (실제값 − 예측값)²] / Σ출전시간</a:t>
            </a:r>
          </a:p>
        </p:txBody>
      </p:sp>
      <p:sp>
        <p:nvSpPr>
          <p:cNvPr id="6" name="">
            <a:extLst xmlns:a="http://schemas.openxmlformats.org/drawingml/2006/main">
              <a:ext uri="{FF2B5EF4-FFF2-40B4-BE49-F238E27FC236}">
                <a16:creationId xmlns:a16="http://schemas.microsoft.com/office/drawing/2014/main" id="{8701FCBA-47AA-4DF5-B214-581CA044FF95}"/>
              </a:ext>
            </a:extLst>
          </p:cNvPr>
          <p:cNvSpPr>
            <a:spLocks xmlns:a="http://schemas.openxmlformats.org/drawingml/2006/main" noGrp="1"/>
          </p:cNvSpPr>
          <p:nvPr/>
        </p:nvSpPr>
        <p:spPr>
          <a:xfrm xmlns:a="http://schemas.openxmlformats.org/drawingml/2006/main">
            <a:off x="609600" y="3571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A80"/>
                </a:solidFill>
              </a:defRPr>
            </a:defPPr>
          </a:lstStyle>
          <a:p xmlns:a="http://schemas.openxmlformats.org/drawingml/2006/main">
            <a:pPr>
              <a:defRPr sz="2925" b="1">
                <a:solidFill>
                  <a:srgbClr val="176A80"/>
                </a:solidFill>
              </a:defRPr>
            </a:pPr>
            <a:r>
              <a:rPr sz="2925" b="1">
                <a:solidFill>
                  <a:srgbClr val="176A80"/>
                </a:solidFill>
              </a:rPr>
              <a:t>RMSE = √MSE</a:t>
            </a:r>
          </a:p>
        </p:txBody>
      </p:sp>
      <p:sp>
        <p:nvSpPr>
          <p:cNvPr id="7" name="">
            <a:extLst xmlns:a="http://schemas.openxmlformats.org/drawingml/2006/main">
              <a:ext uri="{FF2B5EF4-FFF2-40B4-BE49-F238E27FC236}">
                <a16:creationId xmlns:a16="http://schemas.microsoft.com/office/drawing/2014/main" id="{839346E5-EB77-4139-BF1D-CC8CDDF956AF}"/>
              </a:ext>
            </a:extLst>
          </p:cNvPr>
          <p:cNvSpPr>
            <a:spLocks xmlns:a="http://schemas.openxmlformats.org/drawingml/2006/main" noGrp="1"/>
          </p:cNvSpPr>
          <p:nvPr/>
        </p:nvSpPr>
        <p:spPr>
          <a:xfrm xmlns:a="http://schemas.openxmlformats.org/drawingml/2006/main">
            <a:off x="609600" y="4714875"/>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defRPr>
            </a:defPPr>
          </a:lstStyle>
          <a:p xmlns:a="http://schemas.openxmlformats.org/drawingml/2006/main">
            <a:pPr>
              <a:defRPr sz="2100" b="0">
                <a:solidFill>
                  <a:srgbClr val="182C3A"/>
                </a:solidFill>
              </a:defRPr>
            </a:pPr>
            <a:r>
              <a:rPr sz="2100" b="0">
                <a:solidFill>
                  <a:srgbClr val="182C3A"/>
                </a:solidFill>
              </a:rPr>
              <a:t>내부 3-fold 검증 RMSE가 가장 작은 모델 설정 선택</a:t>
            </a:r>
          </a:p>
          <a:p xmlns:a="http://schemas.openxmlformats.org/drawingml/2006/main">
            <a:pPr>
              <a:defRPr sz="2100" b="0">
                <a:solidFill>
                  <a:srgbClr val="182C3A"/>
                </a:solidFill>
              </a:defRPr>
            </a:pPr>
            <a:r>
              <a:rPr sz="2100" b="0">
                <a:solidFill>
                  <a:srgbClr val="182C3A"/>
                </a:solidFill>
              </a:rPr>
              <a:t>별도로 남겨둔 경기에서 최종 오차 평가</a:t>
            </a:r>
          </a:p>
        </p:txBody>
      </p:sp>
    </p:spTree>
    <p:extLst>
      <p:ext uri="{BB962C8B-B14F-4D97-AF65-F5344CB8AC3E}">
        <p14:creationId xmlns:p14="http://schemas.microsoft.com/office/powerpoint/2010/main" val="1501920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2026-10-10T05:45:43.2600000Z</dcterms:created>
  <dcterms:modified xsi:type="dcterms:W3CDTF">2026-10-10T05:45:43.2600000Z</dcterms:modified>
</coreProperties>
</file>